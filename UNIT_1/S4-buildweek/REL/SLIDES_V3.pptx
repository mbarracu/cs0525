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7822" y="1823002"/>
            <a:ext cx="7379970" cy="6748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0C314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139491" y="3399366"/>
            <a:ext cx="6807200" cy="568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7150100"/>
            <a:ext cx="15494000" cy="38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977900"/>
            <a:ext cx="1168400" cy="1244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8970" y="567266"/>
            <a:ext cx="15657258" cy="91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5284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2068" y="2874433"/>
            <a:ext cx="6997700" cy="6301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jp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12" Type="http://schemas.openxmlformats.org/officeDocument/2006/relationships/image" Target="../media/image17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image" Target="../media/image16.jpg"/><Relationship Id="rId5" Type="http://schemas.openxmlformats.org/officeDocument/2006/relationships/image" Target="../media/image10.jpg"/><Relationship Id="rId10" Type="http://schemas.openxmlformats.org/officeDocument/2006/relationships/image" Target="../media/image15.jpg"/><Relationship Id="rId4" Type="http://schemas.openxmlformats.org/officeDocument/2006/relationships/image" Target="../media/image9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3308" y="3646311"/>
            <a:ext cx="13519292" cy="3132268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19050" marR="309245" indent="-6985">
              <a:lnSpc>
                <a:spcPts val="8700"/>
              </a:lnSpc>
              <a:spcBef>
                <a:spcPts val="2025"/>
              </a:spcBef>
            </a:pPr>
            <a:r>
              <a:rPr sz="8850" spc="-185" dirty="0">
                <a:solidFill>
                  <a:srgbClr val="012D4D"/>
                </a:solidFill>
                <a:latin typeface="Arial MT"/>
                <a:cs typeface="Arial MT"/>
              </a:rPr>
              <a:t>Building</a:t>
            </a:r>
            <a:r>
              <a:rPr sz="8850" spc="-365" dirty="0">
                <a:solidFill>
                  <a:srgbClr val="012D4D"/>
                </a:solidFill>
                <a:latin typeface="Arial MT"/>
                <a:cs typeface="Arial MT"/>
              </a:rPr>
              <a:t> </a:t>
            </a:r>
            <a:r>
              <a:rPr sz="8850" spc="-280" dirty="0">
                <a:solidFill>
                  <a:srgbClr val="053356"/>
                </a:solidFill>
                <a:latin typeface="Arial MT"/>
                <a:cs typeface="Arial MT"/>
              </a:rPr>
              <a:t>Theta</a:t>
            </a:r>
            <a:r>
              <a:rPr sz="8850" spc="-455" dirty="0">
                <a:solidFill>
                  <a:srgbClr val="053356"/>
                </a:solidFill>
                <a:latin typeface="Arial MT"/>
                <a:cs typeface="Arial MT"/>
              </a:rPr>
              <a:t> </a:t>
            </a:r>
            <a:r>
              <a:rPr sz="8850" spc="-405" dirty="0">
                <a:solidFill>
                  <a:srgbClr val="032F52"/>
                </a:solidFill>
                <a:latin typeface="Arial MT"/>
                <a:cs typeface="Arial MT"/>
              </a:rPr>
              <a:t>Company's </a:t>
            </a:r>
            <a:r>
              <a:rPr sz="8850" spc="-380" dirty="0">
                <a:solidFill>
                  <a:srgbClr val="032B4B"/>
                </a:solidFill>
                <a:latin typeface="Arial MT"/>
                <a:cs typeface="Arial MT"/>
              </a:rPr>
              <a:t>Secure</a:t>
            </a:r>
            <a:r>
              <a:rPr sz="8850" spc="-525" dirty="0">
                <a:solidFill>
                  <a:srgbClr val="032B4B"/>
                </a:solidFill>
                <a:latin typeface="Arial MT"/>
                <a:cs typeface="Arial MT"/>
              </a:rPr>
              <a:t> </a:t>
            </a:r>
            <a:r>
              <a:rPr sz="8850" spc="-114" dirty="0">
                <a:solidFill>
                  <a:srgbClr val="013354"/>
                </a:solidFill>
                <a:latin typeface="Arial MT"/>
                <a:cs typeface="Arial MT"/>
              </a:rPr>
              <a:t>Digital</a:t>
            </a:r>
            <a:r>
              <a:rPr sz="8850" spc="-735" dirty="0">
                <a:solidFill>
                  <a:srgbClr val="013354"/>
                </a:solidFill>
                <a:latin typeface="Arial MT"/>
                <a:cs typeface="Arial MT"/>
              </a:rPr>
              <a:t> </a:t>
            </a:r>
            <a:r>
              <a:rPr sz="8850" spc="-285" dirty="0">
                <a:solidFill>
                  <a:srgbClr val="033152"/>
                </a:solidFill>
                <a:latin typeface="Arial MT"/>
                <a:cs typeface="Arial MT"/>
              </a:rPr>
              <a:t>Foundation</a:t>
            </a:r>
            <a:endParaRPr sz="8850" dirty="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  <a:spcBef>
                <a:spcPts val="459"/>
              </a:spcBef>
              <a:tabLst>
                <a:tab pos="7892415" algn="l"/>
              </a:tabLst>
            </a:pPr>
            <a:r>
              <a:rPr lang="it-IT" sz="3750" dirty="0">
                <a:solidFill>
                  <a:srgbClr val="131313"/>
                </a:solidFill>
                <a:latin typeface="Cambria"/>
                <a:cs typeface="Cambria"/>
              </a:rPr>
              <a:t>Un investimento strategico in Performance, Sicurezza e Scalabilità</a:t>
            </a:r>
            <a:endParaRPr sz="375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5153" y="7538860"/>
            <a:ext cx="9523730" cy="435376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7145" marR="5080" indent="3175">
              <a:lnSpc>
                <a:spcPts val="3050"/>
              </a:lnSpc>
              <a:spcBef>
                <a:spcPts val="295"/>
              </a:spcBef>
            </a:pPr>
            <a:endParaRPr sz="2600" dirty="0">
              <a:latin typeface="Calibri"/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1C89E6A-C4ED-A09D-4951-5F64F01B388A}"/>
              </a:ext>
            </a:extLst>
          </p:cNvPr>
          <p:cNvSpPr txBox="1"/>
          <p:nvPr/>
        </p:nvSpPr>
        <p:spPr>
          <a:xfrm>
            <a:off x="975153" y="7239000"/>
            <a:ext cx="8219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Riferimento Progetto: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Rinnovamento completo infrastruttura e sicurezza </a:t>
            </a:r>
          </a:p>
          <a:p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Investimento totale proposto: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€ 226.000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F504C8C-3140-2F00-2B01-8F5E965A4E64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4763" y="557036"/>
            <a:ext cx="15082519" cy="13519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5125"/>
              </a:lnSpc>
              <a:spcBef>
                <a:spcPts val="110"/>
              </a:spcBef>
            </a:pPr>
            <a:r>
              <a:rPr lang="it-IT" sz="4800" dirty="0"/>
              <a:t>L'investimento di € 226.000 offre un'infrastruttura "Defense in Depth" chiavi in mano</a:t>
            </a:r>
            <a:endParaRPr sz="4650" dirty="0"/>
          </a:p>
        </p:txBody>
      </p:sp>
      <p:sp>
        <p:nvSpPr>
          <p:cNvPr id="6" name="object 6"/>
          <p:cNvSpPr txBox="1"/>
          <p:nvPr/>
        </p:nvSpPr>
        <p:spPr>
          <a:xfrm>
            <a:off x="2122572" y="3306460"/>
            <a:ext cx="4712335" cy="6328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rtl="0"/>
            <a:r>
              <a:rPr lang="it-IT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Una rete ad alte prestazioni che supporta 120 utenti su 6 piani.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97807" y="4569576"/>
            <a:ext cx="4714240" cy="1175577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 marR="5080" indent="11430">
              <a:lnSpc>
                <a:spcPct val="92200"/>
              </a:lnSpc>
              <a:spcBef>
                <a:spcPts val="334"/>
              </a:spcBef>
            </a:pP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Un'architettura di sicurezza resiliente e multilivello caratterizzata da doppi firewall, segmentazione della rete e 3 sistemi IDS/IPS dedicati.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572" y="6172201"/>
            <a:ext cx="4252828" cy="14651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indent="3175" algn="just">
              <a:lnSpc>
                <a:spcPts val="2750"/>
              </a:lnSpc>
              <a:spcBef>
                <a:spcPts val="470"/>
              </a:spcBef>
            </a:pP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 parco modernizzato e basato sui ruoli di 120 workstation per massimizzare la produttività del personale.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2572" y="7772400"/>
            <a:ext cx="4759960" cy="88549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7145" marR="5080" indent="-5080">
              <a:lnSpc>
                <a:spcPct val="89900"/>
              </a:lnSpc>
              <a:spcBef>
                <a:spcPts val="425"/>
              </a:spcBef>
            </a:pP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22 giorni/uomo di ingegneria di alto livello, dalla progettazione architettonica alla convalida della sicurezza.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1716" y="2372783"/>
            <a:ext cx="13306084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035165" algn="l"/>
              </a:tabLst>
            </a:pPr>
            <a:r>
              <a:rPr lang="it-IT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Risultati Chiave </a:t>
            </a:r>
            <a:r>
              <a:rPr sz="2900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	</a:t>
            </a:r>
            <a:r>
              <a:rPr lang="it-IT" sz="2900" spc="80" dirty="0">
                <a:solidFill>
                  <a:srgbClr val="2D2D2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Investimento proposto</a:t>
            </a:r>
            <a:r>
              <a:rPr sz="2900" spc="90" dirty="0">
                <a:solidFill>
                  <a:srgbClr val="2D2D2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sz="2900" spc="80" dirty="0">
                <a:solidFill>
                  <a:srgbClr val="2D2D2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2900" spc="150" dirty="0">
                <a:solidFill>
                  <a:srgbClr val="34343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€226,000</a:t>
            </a:r>
            <a:endParaRPr sz="29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66022" y="3198368"/>
            <a:ext cx="3531870" cy="873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4930">
              <a:lnSpc>
                <a:spcPct val="106300"/>
              </a:lnSpc>
              <a:spcBef>
                <a:spcPts val="95"/>
              </a:spcBef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Licenze e Supporto: €8.50 (3,8%+) Server Farm (3 unità): €10.200 	           (4.5%)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20785" y="5113866"/>
            <a:ext cx="1953260" cy="5869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ts val="2280"/>
              </a:lnSpc>
              <a:spcBef>
                <a:spcPts val="130"/>
              </a:spcBef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Rete e Sicurezza: €20.800 (9,2%)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3678" y="4059766"/>
            <a:ext cx="2690495" cy="601703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55625" marR="5080" indent="-543560">
              <a:lnSpc>
                <a:spcPts val="2200"/>
              </a:lnSpc>
              <a:spcBef>
                <a:spcPts val="420"/>
              </a:spcBef>
              <a:tabLst>
                <a:tab pos="2552065" algn="l"/>
              </a:tabLst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Manodopera (Ingegneria): €14.000 (6,2%)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670938" y="8127647"/>
            <a:ext cx="1976120" cy="914353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6195" marR="5080" indent="-24130">
              <a:lnSpc>
                <a:spcPts val="2150"/>
              </a:lnSpc>
              <a:spcBef>
                <a:spcPts val="530"/>
              </a:spcBef>
            </a:pPr>
            <a:r>
              <a:rPr sz="2150" spc="-1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Flotta </a:t>
            </a:r>
            <a:r>
              <a:rPr sz="2150" spc="-10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PC</a:t>
            </a:r>
            <a:r>
              <a:rPr sz="2150" spc="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150" spc="-1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(120</a:t>
            </a:r>
            <a:r>
              <a:rPr sz="2150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it-IT" sz="2150" spc="1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px</a:t>
            </a:r>
            <a:r>
              <a:rPr sz="2150" spc="1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): </a:t>
            </a:r>
            <a:r>
              <a:rPr sz="2150" spc="-1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G172,500</a:t>
            </a:r>
            <a:r>
              <a:rPr sz="21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15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(76.3P)</a:t>
            </a:r>
            <a:endParaRPr sz="215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091697E4-3E27-FBED-1004-0164FC35D001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616" y="237067"/>
            <a:ext cx="0" cy="8983345"/>
          </a:xfrm>
          <a:custGeom>
            <a:avLst/>
            <a:gdLst/>
            <a:ahLst/>
            <a:cxnLst/>
            <a:rect l="l" t="t" r="r" b="b"/>
            <a:pathLst>
              <a:path h="8983345">
                <a:moveTo>
                  <a:pt x="0" y="8983133"/>
                </a:moveTo>
                <a:lnTo>
                  <a:pt x="0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31216" y="237067"/>
            <a:ext cx="0" cy="8983345"/>
          </a:xfrm>
          <a:custGeom>
            <a:avLst/>
            <a:gdLst/>
            <a:ahLst/>
            <a:cxnLst/>
            <a:rect l="l" t="t" r="r" b="b"/>
            <a:pathLst>
              <a:path h="8983345">
                <a:moveTo>
                  <a:pt x="0" y="8983133"/>
                </a:moveTo>
                <a:lnTo>
                  <a:pt x="0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8800" y="9205383"/>
            <a:ext cx="16374744" cy="0"/>
          </a:xfrm>
          <a:custGeom>
            <a:avLst/>
            <a:gdLst/>
            <a:ahLst/>
            <a:cxnLst/>
            <a:rect l="l" t="t" r="r" b="b"/>
            <a:pathLst>
              <a:path w="16374744">
                <a:moveTo>
                  <a:pt x="0" y="0"/>
                </a:moveTo>
                <a:lnTo>
                  <a:pt x="16374534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8800" y="1725083"/>
            <a:ext cx="16374744" cy="0"/>
          </a:xfrm>
          <a:custGeom>
            <a:avLst/>
            <a:gdLst/>
            <a:ahLst/>
            <a:cxnLst/>
            <a:rect l="l" t="t" r="r" b="b"/>
            <a:pathLst>
              <a:path w="16374744">
                <a:moveTo>
                  <a:pt x="0" y="0"/>
                </a:moveTo>
                <a:lnTo>
                  <a:pt x="16374534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 flipV="1">
            <a:off x="588433" y="427145"/>
            <a:ext cx="16374744" cy="45719"/>
          </a:xfrm>
          <a:custGeom>
            <a:avLst/>
            <a:gdLst/>
            <a:ahLst/>
            <a:cxnLst/>
            <a:rect l="l" t="t" r="r" b="b"/>
            <a:pathLst>
              <a:path w="16958945">
                <a:moveTo>
                  <a:pt x="0" y="0"/>
                </a:moveTo>
                <a:lnTo>
                  <a:pt x="16958734" y="0"/>
                </a:lnTo>
              </a:path>
            </a:pathLst>
          </a:custGeom>
          <a:ln w="4233">
            <a:solidFill>
              <a:srgbClr val="545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162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900" spc="-275" dirty="0">
                <a:solidFill>
                  <a:srgbClr val="0A3654"/>
                </a:solidFill>
              </a:rPr>
              <a:t>Our</a:t>
            </a:r>
            <a:r>
              <a:rPr sz="4900" spc="-70" dirty="0">
                <a:solidFill>
                  <a:srgbClr val="0A3654"/>
                </a:solidFill>
              </a:rPr>
              <a:t> </a:t>
            </a:r>
            <a:r>
              <a:rPr sz="4900" spc="-70" dirty="0">
                <a:solidFill>
                  <a:srgbClr val="03314D"/>
                </a:solidFill>
              </a:rPr>
              <a:t>Architectural</a:t>
            </a:r>
            <a:r>
              <a:rPr sz="4900" spc="-210" dirty="0">
                <a:solidFill>
                  <a:srgbClr val="03314D"/>
                </a:solidFill>
              </a:rPr>
              <a:t> </a:t>
            </a:r>
            <a:r>
              <a:rPr sz="4900" spc="-95" dirty="0">
                <a:solidFill>
                  <a:srgbClr val="052D44"/>
                </a:solidFill>
              </a:rPr>
              <a:t>Blueprint:</a:t>
            </a:r>
            <a:r>
              <a:rPr sz="4900" spc="-114" dirty="0">
                <a:solidFill>
                  <a:srgbClr val="052D44"/>
                </a:solidFill>
              </a:rPr>
              <a:t> </a:t>
            </a:r>
            <a:r>
              <a:rPr sz="4900" spc="-265" dirty="0">
                <a:solidFill>
                  <a:srgbClr val="033452"/>
                </a:solidFill>
              </a:rPr>
              <a:t>A</a:t>
            </a:r>
            <a:r>
              <a:rPr sz="4900" spc="-484" dirty="0">
                <a:solidFill>
                  <a:srgbClr val="033452"/>
                </a:solidFill>
              </a:rPr>
              <a:t> </a:t>
            </a:r>
            <a:r>
              <a:rPr sz="4900" spc="-150" dirty="0">
                <a:solidFill>
                  <a:srgbClr val="012A3F"/>
                </a:solidFill>
              </a:rPr>
              <a:t>Resilient,</a:t>
            </a:r>
            <a:r>
              <a:rPr sz="4900" spc="-295" dirty="0">
                <a:solidFill>
                  <a:srgbClr val="012A3F"/>
                </a:solidFill>
              </a:rPr>
              <a:t> </a:t>
            </a:r>
            <a:r>
              <a:rPr sz="4900" spc="-130" dirty="0">
                <a:solidFill>
                  <a:srgbClr val="0A3852"/>
                </a:solidFill>
              </a:rPr>
              <a:t>Hierarchical</a:t>
            </a:r>
            <a:r>
              <a:rPr sz="4900" spc="-175" dirty="0">
                <a:solidFill>
                  <a:srgbClr val="0A3852"/>
                </a:solidFill>
              </a:rPr>
              <a:t> </a:t>
            </a:r>
            <a:r>
              <a:rPr sz="4900" spc="-65" dirty="0">
                <a:solidFill>
                  <a:srgbClr val="032B3F"/>
                </a:solidFill>
              </a:rPr>
              <a:t>Design</a:t>
            </a:r>
            <a:endParaRPr sz="4900" dirty="0"/>
          </a:p>
        </p:txBody>
      </p:sp>
      <p:sp>
        <p:nvSpPr>
          <p:cNvPr id="51" name="object 51"/>
          <p:cNvSpPr txBox="1"/>
          <p:nvPr/>
        </p:nvSpPr>
        <p:spPr>
          <a:xfrm>
            <a:off x="715013" y="1836388"/>
            <a:ext cx="4629151" cy="723788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38760" marR="5080" indent="-226695" algn="ctr">
              <a:lnSpc>
                <a:spcPct val="77300"/>
              </a:lnSpc>
              <a:spcBef>
                <a:spcPts val="655"/>
              </a:spcBef>
            </a:pPr>
            <a:r>
              <a:rPr spc="-7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1.</a:t>
            </a:r>
            <a:r>
              <a:rPr spc="-1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b="1" spc="-16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Access</a:t>
            </a:r>
            <a:r>
              <a:rPr b="1" spc="-1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b="1" spc="-17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Layer</a:t>
            </a:r>
            <a:r>
              <a:rPr lang="it-IT" b="1" spc="-17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it-IT" spc="-17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: 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6 switch dedicati, uno per ogni piano, per garantire prestazioni localizzate a 120 utenti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07585" y="5845901"/>
            <a:ext cx="4500247" cy="753796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35585" marR="5080" indent="-223520" algn="ctr">
              <a:lnSpc>
                <a:spcPct val="88200"/>
              </a:lnSpc>
              <a:spcBef>
                <a:spcPts val="175"/>
              </a:spcBef>
            </a:pPr>
            <a:r>
              <a:rPr spc="-6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4.</a:t>
            </a:r>
            <a:r>
              <a:rPr lang="it-IT" spc="-6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Servizi Critici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: Server dedicati per DHCP, NAS e il Web Server pubblico in DMZ sono posizionati strategicamente e protetti.</a:t>
            </a:r>
            <a:r>
              <a:rPr spc="-204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19688" y="3057857"/>
            <a:ext cx="4789528" cy="102912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37820" marR="361950" indent="1270" algn="ctr">
              <a:lnSpc>
                <a:spcPts val="1850"/>
              </a:lnSpc>
              <a:spcBef>
                <a:spcPts val="425"/>
              </a:spcBef>
            </a:pPr>
            <a:r>
              <a:rPr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2.</a:t>
            </a:r>
            <a:r>
              <a:rPr spc="-2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b="1" spc="-7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Core</a:t>
            </a:r>
            <a:r>
              <a:rPr b="1" spc="-2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b="1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Layer</a:t>
            </a:r>
            <a:r>
              <a:rPr lang="it-IT" spc="24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: 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 Core Switch centrale aggrega tutto il traffico, fornendo connettività ad alta velocità verso i servizi critici.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	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715013" y="4310092"/>
            <a:ext cx="4500247" cy="11798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10795" algn="ctr">
              <a:lnSpc>
                <a:spcPct val="80300"/>
              </a:lnSpc>
              <a:spcBef>
                <a:spcPts val="560"/>
              </a:spcBef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Zone di sicurezza: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Zone di sicurezza distinte (Inside, DMZ,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Outside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) sono garantite da un'architettura a doppio firewall, creando un solido assetto di "Difesa in profondità" (Defense in Depth).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9D06B988-EDB5-BF71-91C9-4FB5FECC431C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AA2674-2E2F-4656-9D1F-C67830C14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653" y="1898513"/>
            <a:ext cx="10976920" cy="716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0500" y="3657600"/>
            <a:ext cx="2997200" cy="48768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74700" y="3206750"/>
            <a:ext cx="15921990" cy="0"/>
          </a:xfrm>
          <a:custGeom>
            <a:avLst/>
            <a:gdLst/>
            <a:ahLst/>
            <a:cxnLst/>
            <a:rect l="l" t="t" r="r" b="b"/>
            <a:pathLst>
              <a:path w="15921990">
                <a:moveTo>
                  <a:pt x="0" y="0"/>
                </a:moveTo>
                <a:lnTo>
                  <a:pt x="15921567" y="0"/>
                </a:lnTo>
              </a:path>
            </a:pathLst>
          </a:custGeom>
          <a:ln w="3810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400" y="909461"/>
            <a:ext cx="17195801" cy="6328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it-IT" sz="4000" dirty="0"/>
              <a:t>Investimento in un Core di Rete e Sicurezza ad Alte Prestazioni (C31,OOO)</a:t>
            </a:r>
            <a:endParaRPr sz="38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9248" y="1964840"/>
            <a:ext cx="16569417" cy="120609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3335" marR="5080" indent="-1270">
              <a:lnSpc>
                <a:spcPts val="3000"/>
              </a:lnSpc>
              <a:spcBef>
                <a:spcPts val="405"/>
              </a:spcBef>
            </a:pP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Abbiamo selezionato il '</a:t>
            </a:r>
            <a:r>
              <a:rPr lang="it-IT" sz="28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Tier</a:t>
            </a: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2: Business Standard' </a:t>
            </a:r>
            <a:r>
              <a:rPr lang="it-IT" sz="28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(Aruba/</a:t>
            </a:r>
            <a:r>
              <a:rPr lang="it-IT" sz="28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Fortinet</a:t>
            </a:r>
            <a:r>
              <a:rPr lang="it-IT" sz="28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 fornire il throughput e le funzionalità necessarie per una moderna strategia di sicurezza, evitando apparati SMB sottodimensionati e costi Enterprise eccessivi.</a:t>
            </a:r>
            <a:endParaRPr sz="2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9105" y="3408891"/>
            <a:ext cx="7290599" cy="25987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Core di Networking </a:t>
            </a:r>
            <a:r>
              <a:rPr lang="it-IT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(Aruba/</a:t>
            </a:r>
            <a:r>
              <a:rPr lang="it-IT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Fortinet</a:t>
            </a:r>
            <a:r>
              <a:rPr lang="it-IT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):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€20.800</a:t>
            </a:r>
          </a:p>
          <a:p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Supporta il modello gerarchico </a:t>
            </a:r>
            <a:r>
              <a:rPr lang="it-IT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(Core + 6 Switch di Accesso)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Abilita una topologia a doppio firewall (Perimetrale e Interno).</a:t>
            </a:r>
          </a:p>
          <a:p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Fornisce il throughput necessario per l'analisi del traffico in tempo reale da parte di 3 sistemi IDS/IPS.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9105" y="6007679"/>
            <a:ext cx="7727950" cy="49776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Server Farm (Dell Power5dge/QNAP):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€10.200</a:t>
            </a:r>
          </a:p>
          <a:p>
            <a:endParaRPr lang="it-IT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Server DHCP: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Gestione centralizzata degli indirizzi IP su tutte le VLAN di piano.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Storage NAS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File server sicuro e isolato per i dati aziendali sensibili.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Host DMZ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Server dedicato e "blindato" (</a:t>
            </a:r>
            <a:r>
              <a:rPr kumimoji="0" lang="it-IT" altLang="it-IT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hardened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per i servizi pubblici, per garantire che la rete interna non venga esposta.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kumimoji="0" lang="it-IT" altLang="it-IT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96636" y="3915833"/>
            <a:ext cx="129413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dirty="0">
                <a:latin typeface="Arial MT"/>
                <a:cs typeface="Arial MT"/>
              </a:rPr>
              <a:t>Firewall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-</a:t>
            </a:r>
            <a:r>
              <a:rPr sz="1650" spc="-65" dirty="0">
                <a:latin typeface="Arial MT"/>
                <a:cs typeface="Arial MT"/>
              </a:rPr>
              <a:t> </a:t>
            </a:r>
            <a:r>
              <a:rPr sz="1650" spc="-80" dirty="0">
                <a:latin typeface="Arial MT"/>
                <a:cs typeface="Arial MT"/>
              </a:rPr>
              <a:t>EXT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61990" y="5098344"/>
            <a:ext cx="124587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70" dirty="0">
                <a:latin typeface="Arial MT"/>
                <a:cs typeface="Arial MT"/>
              </a:rPr>
              <a:t>Firewall</a:t>
            </a:r>
            <a:r>
              <a:rPr sz="1800" dirty="0">
                <a:latin typeface="Arial MT"/>
                <a:cs typeface="Arial MT"/>
              </a:rPr>
              <a:t> -</a:t>
            </a:r>
            <a:r>
              <a:rPr sz="1800" spc="-220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INT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567738" y="3889375"/>
            <a:ext cx="136271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10" dirty="0">
                <a:latin typeface="Arial MT"/>
                <a:cs typeface="Arial MT"/>
              </a:rPr>
              <a:t>Central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114" dirty="0">
                <a:latin typeface="Arial MT"/>
                <a:cs typeface="Arial MT"/>
              </a:rPr>
              <a:t>Router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53059" y="6208183"/>
            <a:ext cx="114554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10" dirty="0">
                <a:latin typeface="Arial MT"/>
                <a:cs typeface="Arial MT"/>
              </a:rPr>
              <a:t>Core</a:t>
            </a:r>
            <a:r>
              <a:rPr sz="1650" spc="-10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Switch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09788" y="8586964"/>
            <a:ext cx="125222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95" dirty="0">
                <a:latin typeface="Arial MT"/>
                <a:cs typeface="Arial MT"/>
              </a:rPr>
              <a:t>DHCP-</a:t>
            </a:r>
            <a:r>
              <a:rPr sz="1700" spc="-50" dirty="0">
                <a:latin typeface="Arial MT"/>
                <a:cs typeface="Arial MT"/>
              </a:rPr>
              <a:t>Server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99110" y="8586964"/>
            <a:ext cx="42418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110" dirty="0">
                <a:latin typeface="Arial MT"/>
                <a:cs typeface="Arial MT"/>
              </a:rPr>
              <a:t>NAS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89494" y="8586964"/>
            <a:ext cx="949325" cy="506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1870"/>
              </a:lnSpc>
              <a:spcBef>
                <a:spcPts val="135"/>
              </a:spcBef>
            </a:pPr>
            <a:r>
              <a:rPr sz="1700" spc="-75" dirty="0">
                <a:latin typeface="Arial MT"/>
                <a:cs typeface="Arial MT"/>
              </a:rPr>
              <a:t>DMZ-</a:t>
            </a:r>
            <a:r>
              <a:rPr sz="1700" spc="-25" dirty="0">
                <a:latin typeface="Arial MT"/>
                <a:cs typeface="Arial MT"/>
              </a:rPr>
              <a:t>Web</a:t>
            </a:r>
            <a:endParaRPr sz="1700">
              <a:latin typeface="Arial MT"/>
              <a:cs typeface="Arial MT"/>
            </a:endParaRPr>
          </a:p>
          <a:p>
            <a:pPr algn="ctr">
              <a:lnSpc>
                <a:spcPts val="1870"/>
              </a:lnSpc>
            </a:pPr>
            <a:r>
              <a:rPr sz="1700" spc="-10" dirty="0">
                <a:latin typeface="Arial MT"/>
                <a:cs typeface="Arial MT"/>
              </a:rPr>
              <a:t>Server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G</a:t>
            </a:r>
            <a:r>
              <a:rPr sz="1300" spc="49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NotebookLM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F5D08889-74F1-9F51-1857-B28B68AA14B6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00" y="2730500"/>
            <a:ext cx="15697200" cy="6527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1841" y="445617"/>
            <a:ext cx="16095359" cy="20710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790"/>
              </a:spcBef>
            </a:pPr>
            <a:r>
              <a:rPr lang="it-IT" sz="3600" dirty="0"/>
              <a:t>Un parco dispositivi razionalizzato per una forza lavoro moderna (€172.500)</a:t>
            </a:r>
            <a:br>
              <a:rPr lang="it-IT" sz="3600" dirty="0"/>
            </a:br>
            <a:br>
              <a:rPr lang="it-IT" sz="3600" dirty="0"/>
            </a:br>
            <a:r>
              <a:rPr lang="it-I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 approccio </a:t>
            </a:r>
            <a:r>
              <a:rPr lang="it-IT" sz="28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"taglia unica" </a:t>
            </a:r>
            <a:r>
              <a:rPr lang="it-I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è inefficiente. Abbiamo segmentato le 120 workstation in base alle reali esigenze dei dipartimenti per massimizzare il valore e la produttività.</a:t>
            </a:r>
            <a:endParaRPr sz="33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9034" y="2820458"/>
            <a:ext cx="11570335" cy="5551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TIER 2: 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Fascia Media (75 Utenti)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Target: Consulenti, PM, Vendite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Specifiche: i7, 32GB RAM, 1TB SSD, Monitor QHD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Motivazione: Per multitasking intensivo, CRM e analisi.</a:t>
            </a:r>
          </a:p>
          <a:p>
            <a:pPr>
              <a:lnSpc>
                <a:spcPct val="100000"/>
              </a:lnSpc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TIER 3: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Fascia Alta (25 Utenti)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Target: Sviluppatori, </a:t>
            </a:r>
            <a:r>
              <a:rPr lang="it-IT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DevOps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Data Scientist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Specifiche: i9/Xeon, 64GB RAM, GPU Dedicata, Doppio Monitor 4K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Motivazione: Essenziale per carichi di lavoro di virtualizzazione, programmazione (coding) e rendering.</a:t>
            </a: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it-I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TIER 1: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Fascia Bassa (20 Utenti)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Target: Amministrazione, HR, Back Office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Specifiche: i5, 16GB RAM, 512GB SSD, Monitor FHD</a:t>
            </a: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Motivazione: Soluzione conveniente per Office, ERP e attività basate sul web.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642412" y="9413522"/>
            <a:ext cx="1511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20" dirty="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75" dirty="0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9C5FB72-635C-AB0D-EEDB-9588567E0152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C7B09A-240F-F616-9D91-EEFC7CED5235}"/>
              </a:ext>
            </a:extLst>
          </p:cNvPr>
          <p:cNvSpPr txBox="1"/>
          <p:nvPr/>
        </p:nvSpPr>
        <p:spPr>
          <a:xfrm>
            <a:off x="9042399" y="6629400"/>
            <a:ext cx="3546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dirty="0">
                <a:latin typeface="Cambria" panose="02040503050406030204" pitchFamily="18" charset="0"/>
                <a:ea typeface="Cambria" panose="02040503050406030204" pitchFamily="18" charset="0"/>
              </a:rPr>
              <a:t>Costo Totale: €60.000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1F599F3-1348-F11B-4524-4BE7AFE418E0}"/>
              </a:ext>
            </a:extLst>
          </p:cNvPr>
          <p:cNvSpPr txBox="1"/>
          <p:nvPr/>
        </p:nvSpPr>
        <p:spPr>
          <a:xfrm>
            <a:off x="3708400" y="8748637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dirty="0">
                <a:latin typeface="Cambria" panose="02040503050406030204" pitchFamily="18" charset="0"/>
                <a:ea typeface="Cambria" panose="02040503050406030204" pitchFamily="18" charset="0"/>
              </a:rPr>
              <a:t>Costo Totale: €15.000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800" y="4152900"/>
            <a:ext cx="15849600" cy="3886200"/>
            <a:chOff x="812800" y="4152900"/>
            <a:chExt cx="15849600" cy="3886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800" y="4152900"/>
              <a:ext cx="3238500" cy="3886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700" y="4152900"/>
              <a:ext cx="3238500" cy="3886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0600" y="4152900"/>
              <a:ext cx="3238500" cy="3886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04500" y="4152900"/>
              <a:ext cx="3225800" cy="3886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5700" y="4152900"/>
              <a:ext cx="2806700" cy="3886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27500" y="4787900"/>
              <a:ext cx="190500" cy="190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24400" y="5842000"/>
              <a:ext cx="63500" cy="1397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8100" y="4203700"/>
              <a:ext cx="1524000" cy="622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6800" y="4978400"/>
              <a:ext cx="1955800" cy="609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89700" y="6070600"/>
              <a:ext cx="342900" cy="368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69000" y="6858000"/>
              <a:ext cx="863600" cy="8509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9500" y="6807200"/>
              <a:ext cx="4876800" cy="1092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38900" y="6477000"/>
              <a:ext cx="393700" cy="38100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56490" y="620536"/>
            <a:ext cx="15348710" cy="1633781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 marR="5080" indent="3175">
              <a:lnSpc>
                <a:spcPts val="5650"/>
              </a:lnSpc>
              <a:spcBef>
                <a:spcPts val="1340"/>
              </a:spcBef>
            </a:pPr>
            <a:r>
              <a:rPr lang="it-IT" sz="6000" dirty="0"/>
              <a:t>Più che una semplice installazione: Il valore di un'ingegneria di alto livello (€14.000)</a:t>
            </a:r>
            <a:endParaRPr sz="5750" dirty="0"/>
          </a:p>
        </p:txBody>
      </p:sp>
      <p:sp>
        <p:nvSpPr>
          <p:cNvPr id="17" name="object 17"/>
          <p:cNvSpPr txBox="1"/>
          <p:nvPr/>
        </p:nvSpPr>
        <p:spPr>
          <a:xfrm>
            <a:off x="872174" y="2293892"/>
            <a:ext cx="15790226" cy="1232773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4604" marR="5080" indent="-2540">
              <a:lnSpc>
                <a:spcPts val="4550"/>
              </a:lnSpc>
              <a:spcBef>
                <a:spcPts val="835"/>
              </a:spcBef>
            </a:pP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Il cronoprogramma del progetto di 22 giorni è dettato da configurazioni complesse e dal rafforzamento della sicurezza </a:t>
            </a:r>
            <a:r>
              <a:rPr lang="it-IT" sz="3200" i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it-IT" sz="3200" i="1" dirty="0" err="1">
                <a:latin typeface="Cambria" panose="02040503050406030204" pitchFamily="18" charset="0"/>
                <a:ea typeface="Cambria" panose="02040503050406030204" pitchFamily="18" charset="0"/>
              </a:rPr>
              <a:t>hardening</a:t>
            </a:r>
            <a:r>
              <a:rPr lang="it-IT" sz="3200" i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, non solo dal semplice montaggio dell'hardware.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EEC7DC91-90F8-F0EF-C443-825A2FC5C953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900" y="8102600"/>
            <a:ext cx="508000" cy="50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1900" y="6642100"/>
            <a:ext cx="508000" cy="520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1900" y="3873500"/>
            <a:ext cx="508000" cy="50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32316" y="342900"/>
            <a:ext cx="0" cy="9127490"/>
          </a:xfrm>
          <a:custGeom>
            <a:avLst/>
            <a:gdLst/>
            <a:ahLst/>
            <a:cxnLst/>
            <a:rect l="l" t="t" r="r" b="b"/>
            <a:pathLst>
              <a:path h="9127490">
                <a:moveTo>
                  <a:pt x="0" y="9127067"/>
                </a:moveTo>
                <a:lnTo>
                  <a:pt x="0" y="0"/>
                </a:lnTo>
              </a:path>
            </a:pathLst>
          </a:custGeom>
          <a:ln w="21166">
            <a:solidFill>
              <a:srgbClr val="4B4B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21733" y="342900"/>
            <a:ext cx="16772890" cy="9127490"/>
            <a:chOff x="321733" y="342900"/>
            <a:chExt cx="16772890" cy="9127490"/>
          </a:xfrm>
        </p:grpSpPr>
        <p:sp>
          <p:nvSpPr>
            <p:cNvPr id="7" name="object 7"/>
            <p:cNvSpPr/>
            <p:nvPr/>
          </p:nvSpPr>
          <p:spPr>
            <a:xfrm>
              <a:off x="17083612" y="342900"/>
              <a:ext cx="0" cy="9127490"/>
            </a:xfrm>
            <a:custGeom>
              <a:avLst/>
              <a:gdLst/>
              <a:ahLst/>
              <a:cxnLst/>
              <a:rect l="l" t="t" r="r" b="b"/>
              <a:pathLst>
                <a:path h="9127490">
                  <a:moveTo>
                    <a:pt x="0" y="9127067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4B4B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1733" y="353483"/>
              <a:ext cx="16772890" cy="0"/>
            </a:xfrm>
            <a:custGeom>
              <a:avLst/>
              <a:gdLst/>
              <a:ahLst/>
              <a:cxnLst/>
              <a:rect l="l" t="t" r="r" b="b"/>
              <a:pathLst>
                <a:path w="16772890">
                  <a:moveTo>
                    <a:pt x="0" y="0"/>
                  </a:moveTo>
                  <a:lnTo>
                    <a:pt x="16772467" y="0"/>
                  </a:lnTo>
                </a:path>
              </a:pathLst>
            </a:custGeom>
            <a:ln w="21166">
              <a:solidFill>
                <a:srgbClr val="4B4B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1733" y="9459383"/>
              <a:ext cx="16772890" cy="0"/>
            </a:xfrm>
            <a:custGeom>
              <a:avLst/>
              <a:gdLst/>
              <a:ahLst/>
              <a:cxnLst/>
              <a:rect l="l" t="t" r="r" b="b"/>
              <a:pathLst>
                <a:path w="16772890">
                  <a:moveTo>
                    <a:pt x="0" y="0"/>
                  </a:moveTo>
                  <a:lnTo>
                    <a:pt x="16772467" y="0"/>
                  </a:lnTo>
                </a:path>
              </a:pathLst>
            </a:custGeom>
            <a:ln w="21166">
              <a:solidFill>
                <a:srgbClr val="4B4B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42016" y="2688167"/>
              <a:ext cx="0" cy="6011545"/>
            </a:xfrm>
            <a:custGeom>
              <a:avLst/>
              <a:gdLst/>
              <a:ahLst/>
              <a:cxnLst/>
              <a:rect l="l" t="t" r="r" b="b"/>
              <a:pathLst>
                <a:path h="6011545">
                  <a:moveTo>
                    <a:pt x="0" y="6011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5764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07029" y="3505200"/>
            <a:ext cx="397545" cy="416887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135"/>
              </a:lnSpc>
            </a:pPr>
            <a:r>
              <a:rPr sz="3200" spc="-10" dirty="0">
                <a:solidFill>
                  <a:srgbClr val="0A2A3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Top-</a:t>
            </a:r>
            <a:r>
              <a:rPr sz="3200" dirty="0">
                <a:solidFill>
                  <a:srgbClr val="0A2A3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Down</a:t>
            </a:r>
            <a:r>
              <a:rPr sz="3200" spc="90" dirty="0">
                <a:solidFill>
                  <a:srgbClr val="0A2A3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3200" spc="40" dirty="0">
                <a:solidFill>
                  <a:srgbClr val="0C2F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Execution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37352" y="294216"/>
            <a:ext cx="15451455" cy="20576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lang="it-IT" sz="3600" dirty="0"/>
              <a:t>Uno Sguardo alla Policy del Firewall</a:t>
            </a:r>
            <a:br>
              <a:rPr lang="it-IT" sz="3600" dirty="0"/>
            </a:br>
            <a:br>
              <a:rPr lang="it-IT" sz="3600" dirty="0"/>
            </a:br>
            <a:r>
              <a:rPr lang="it-I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Il firewall opera secondo il Principio del Privilegio Minimo. Andiamo oltre un semplice 'consenti/nega' verso una policy </a:t>
            </a:r>
            <a:r>
              <a:rPr lang="it-IT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stateful</a:t>
            </a:r>
            <a:r>
              <a:rPr lang="it-I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che isola i ruoli e contiene le minacce.</a:t>
            </a:r>
            <a:endParaRPr sz="325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244393"/>
              </p:ext>
            </p:extLst>
          </p:nvPr>
        </p:nvGraphicFramePr>
        <p:xfrm>
          <a:off x="2247052" y="2383369"/>
          <a:ext cx="14582560" cy="68121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4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5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9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0267"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lang="it-IT" sz="3050" spc="-20" dirty="0">
                          <a:solidFill>
                            <a:srgbClr val="132F44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Regole</a:t>
                      </a:r>
                      <a:endParaRPr sz="30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90805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lang="it-IT" sz="3050" spc="-20" dirty="0">
                          <a:solidFill>
                            <a:srgbClr val="153146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/>
                        </a:rPr>
                        <a:t>Origine</a:t>
                      </a:r>
                      <a:endParaRPr sz="30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/>
                      </a:endParaRPr>
                    </a:p>
                  </a:txBody>
                  <a:tcPr marL="0" marR="0" marT="90805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it-IT" sz="2950" spc="-25" dirty="0">
                          <a:solidFill>
                            <a:srgbClr val="08243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Destinazione</a:t>
                      </a:r>
                      <a:endParaRPr sz="29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03505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lang="it-IT" sz="3100" spc="-70" dirty="0">
                          <a:solidFill>
                            <a:srgbClr val="0C314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Descrizione</a:t>
                      </a:r>
                      <a:endParaRPr sz="31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84455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874">
                <a:tc>
                  <a:txBody>
                    <a:bodyPr/>
                    <a:lstStyle/>
                    <a:p>
                      <a:pPr marL="172085" marR="1446530" indent="8255">
                        <a:lnSpc>
                          <a:spcPts val="2600"/>
                        </a:lnSpc>
                        <a:spcBef>
                          <a:spcPts val="1120"/>
                        </a:spcBef>
                      </a:pPr>
                      <a:r>
                        <a:rPr sz="2600" spc="-1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</a:t>
                      </a:r>
                      <a:r>
                        <a:rPr lang="it-IT" sz="2600" spc="-13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egole</a:t>
                      </a:r>
                      <a:r>
                        <a:rPr sz="2600" spc="-1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6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2: </a:t>
                      </a:r>
                      <a:r>
                        <a:rPr lang="it-IT" sz="2400" spc="-1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Accesso Admin</a:t>
                      </a:r>
                      <a:endParaRPr lang="it-IT" sz="2600" spc="-175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172085" marR="1446530" indent="8255">
                        <a:lnSpc>
                          <a:spcPts val="2600"/>
                        </a:lnSpc>
                        <a:spcBef>
                          <a:spcPts val="1120"/>
                        </a:spcBef>
                      </a:pPr>
                      <a:r>
                        <a:rPr sz="255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(PASS)</a:t>
                      </a:r>
                      <a:endParaRPr sz="25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4224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2635"/>
                        </a:lnSpc>
                        <a:spcBef>
                          <a:spcPts val="2150"/>
                        </a:spcBef>
                      </a:pPr>
                      <a:r>
                        <a:rPr sz="235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192.168.S0.III</a:t>
                      </a:r>
                      <a:endParaRPr sz="235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 MT"/>
                      </a:endParaRPr>
                    </a:p>
                    <a:p>
                      <a:pPr marL="22860" algn="ctr">
                        <a:lnSpc>
                          <a:spcPts val="2815"/>
                        </a:lnSpc>
                      </a:pPr>
                      <a:r>
                        <a:rPr sz="2500" spc="-14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(Admin</a:t>
                      </a:r>
                      <a:r>
                        <a:rPr sz="2500" spc="-1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 </a:t>
                      </a:r>
                      <a:r>
                        <a:rPr sz="2500" spc="-39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PC)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 MT"/>
                      </a:endParaRPr>
                    </a:p>
                  </a:txBody>
                  <a:tcPr marL="0" marR="0" marT="27305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3260">
                        <a:lnSpc>
                          <a:spcPts val="2580"/>
                        </a:lnSpc>
                        <a:spcBef>
                          <a:spcPts val="900"/>
                        </a:spcBef>
                      </a:pPr>
                      <a:r>
                        <a:rPr sz="2300" spc="-5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192.168.51.10</a:t>
                      </a:r>
                      <a:endParaRPr sz="23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680720">
                        <a:lnSpc>
                          <a:spcPts val="2595"/>
                        </a:lnSpc>
                      </a:pPr>
                      <a:r>
                        <a:rPr sz="2500" spc="-1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(DMZ</a:t>
                      </a:r>
                      <a:r>
                        <a:rPr sz="25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00" spc="-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Server)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501650">
                        <a:lnSpc>
                          <a:spcPts val="2835"/>
                        </a:lnSpc>
                      </a:pPr>
                      <a:r>
                        <a:rPr sz="2550" spc="-1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on</a:t>
                      </a:r>
                      <a:r>
                        <a:rPr sz="2550" spc="-1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50" spc="-19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Port</a:t>
                      </a:r>
                      <a:r>
                        <a:rPr sz="2550" spc="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50" spc="-2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22</a:t>
                      </a:r>
                      <a:r>
                        <a:rPr sz="2550" spc="-1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5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(SSH)</a:t>
                      </a:r>
                      <a:endParaRPr sz="25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1430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 marR="741680" indent="-6350" algn="ctr">
                        <a:lnSpc>
                          <a:spcPts val="2500"/>
                        </a:lnSpc>
                        <a:spcBef>
                          <a:spcPts val="1300"/>
                        </a:spcBef>
                      </a:pPr>
                      <a:r>
                        <a:rPr lang="it-IT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 la gestione del server a un singolo </a:t>
                      </a:r>
                      <a:r>
                        <a:rPr lang="it-IT" sz="1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host</a:t>
                      </a:r>
                      <a:r>
                        <a:rPr lang="it-IT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autorizzato, prevenendo l'accesso non autorizzato da altri dispositivi interni.</a:t>
                      </a:r>
                      <a:endParaRPr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65100" marB="0" anchor="ctr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6558">
                <a:tc>
                  <a:txBody>
                    <a:bodyPr/>
                    <a:lstStyle/>
                    <a:p>
                      <a:pPr marL="182245">
                        <a:lnSpc>
                          <a:spcPts val="2775"/>
                        </a:lnSpc>
                        <a:spcBef>
                          <a:spcPts val="630"/>
                        </a:spcBef>
                      </a:pPr>
                      <a:r>
                        <a:rPr sz="2500" spc="-8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Rule</a:t>
                      </a:r>
                      <a:r>
                        <a:rPr sz="2500" spc="-1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3: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168275">
                        <a:lnSpc>
                          <a:spcPts val="2610"/>
                        </a:lnSpc>
                      </a:pPr>
                      <a:r>
                        <a:rPr sz="2600" spc="-1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Corporate</a:t>
                      </a:r>
                      <a:r>
                        <a:rPr sz="2600" spc="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6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Services</a:t>
                      </a:r>
                      <a:endParaRPr sz="2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170815">
                        <a:lnSpc>
                          <a:spcPts val="2955"/>
                        </a:lnSpc>
                      </a:pPr>
                      <a:r>
                        <a:rPr sz="2700" spc="-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(PASS)</a:t>
                      </a:r>
                      <a:endParaRPr sz="27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8001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235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23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LAN</a:t>
                      </a:r>
                      <a:r>
                        <a:rPr sz="235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Subnet</a:t>
                      </a:r>
                      <a:endParaRPr sz="235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280" marR="596265">
                        <a:lnSpc>
                          <a:spcPts val="2600"/>
                        </a:lnSpc>
                        <a:spcBef>
                          <a:spcPts val="2350"/>
                        </a:spcBef>
                      </a:pPr>
                      <a:r>
                        <a:rPr sz="235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DMZ</a:t>
                      </a:r>
                      <a:r>
                        <a:rPr sz="2350" spc="-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7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Server</a:t>
                      </a:r>
                      <a:r>
                        <a:rPr sz="2350" spc="-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on </a:t>
                      </a:r>
                      <a:r>
                        <a:rPr sz="2350" spc="-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Port</a:t>
                      </a:r>
                      <a:r>
                        <a:rPr sz="2350" spc="-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2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80</a:t>
                      </a:r>
                      <a:r>
                        <a:rPr sz="2350" spc="-9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350" spc="-7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(HTTP)</a:t>
                      </a:r>
                      <a:endParaRPr sz="23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29845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501015" indent="-635" algn="ctr">
                        <a:lnSpc>
                          <a:spcPts val="2500"/>
                        </a:lnSpc>
                        <a:spcBef>
                          <a:spcPts val="1230"/>
                        </a:spcBef>
                      </a:pPr>
                      <a:r>
                        <a:rPr lang="it-IT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Consente ai dipendenti di accedere al servizio web, bloccando implicitamente l'accesso ad altre porte potenzialmente vulnerabili sul server.</a:t>
                      </a:r>
                      <a:endParaRPr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0" marT="156210" marB="0" anchor="ctr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3466">
                <a:tc>
                  <a:txBody>
                    <a:bodyPr/>
                    <a:lstStyle/>
                    <a:p>
                      <a:pPr marL="179705" marR="1678305" indent="1905" algn="l">
                        <a:lnSpc>
                          <a:spcPts val="2600"/>
                        </a:lnSpc>
                        <a:spcBef>
                          <a:spcPts val="1950"/>
                        </a:spcBef>
                      </a:pPr>
                      <a:r>
                        <a:rPr sz="2500" spc="-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Rule</a:t>
                      </a:r>
                      <a:r>
                        <a:rPr sz="2500" spc="-1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4: </a:t>
                      </a:r>
                      <a:r>
                        <a:rPr sz="2400" spc="-95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Isol</a:t>
                      </a:r>
                      <a:r>
                        <a:rPr lang="it-IT" sz="2400" spc="-9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amento </a:t>
                      </a:r>
                      <a:r>
                        <a:rPr sz="2400" spc="-14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DNZ </a:t>
                      </a:r>
                      <a:r>
                        <a:rPr sz="255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/>
                        </a:rPr>
                        <a:t>(REJECT)</a:t>
                      </a:r>
                      <a:endParaRPr sz="25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/>
                      </a:endParaRPr>
                    </a:p>
                  </a:txBody>
                  <a:tcPr marL="0" marR="0" marT="24765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22860" algn="ctr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LAN</a:t>
                      </a:r>
                      <a:r>
                        <a:rPr sz="2400" spc="-9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Subnet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8669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741680">
                        <a:lnSpc>
                          <a:spcPts val="2765"/>
                        </a:lnSpc>
                      </a:pPr>
                      <a:r>
                        <a:rPr sz="2400" spc="-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DMZ</a:t>
                      </a:r>
                      <a:r>
                        <a:rPr sz="2400" spc="-1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Subnet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873125">
                        <a:lnSpc>
                          <a:spcPts val="2705"/>
                        </a:lnSpc>
                      </a:pPr>
                      <a:r>
                        <a:rPr sz="2350" spc="-10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(Any</a:t>
                      </a:r>
                      <a:r>
                        <a:rPr sz="235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Port)</a:t>
                      </a:r>
                      <a:endParaRPr sz="235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 algn="ctr">
                        <a:lnSpc>
                          <a:spcPts val="2825"/>
                        </a:lnSpc>
                        <a:spcBef>
                          <a:spcPts val="330"/>
                        </a:spcBef>
                      </a:pPr>
                      <a:r>
                        <a:rPr lang="it-IT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 pietra angolare della sicurezza interna. Previene il movimento laterale da un dispositivo LAN compromesso che tenta di scansionare o attaccare la DMZ, contenendo efficacemente le minacce.</a:t>
                      </a:r>
                      <a:endParaRPr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2972">
                <a:tc>
                  <a:txBody>
                    <a:bodyPr/>
                    <a:lstStyle/>
                    <a:p>
                      <a:pPr marL="170815" marR="1228725" indent="9525">
                        <a:lnSpc>
                          <a:spcPts val="2600"/>
                        </a:lnSpc>
                        <a:spcBef>
                          <a:spcPts val="1350"/>
                        </a:spcBef>
                      </a:pPr>
                      <a:r>
                        <a:rPr sz="2700" spc="-1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Rule</a:t>
                      </a:r>
                      <a:r>
                        <a:rPr sz="2700" spc="-1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lang="it-IT" sz="2700" spc="-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5</a:t>
                      </a:r>
                      <a:r>
                        <a:rPr sz="2700" spc="-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: </a:t>
                      </a:r>
                      <a:r>
                        <a:rPr lang="it-IT" sz="2400" spc="-1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Accesso ad internet</a:t>
                      </a:r>
                      <a:endParaRPr lang="it-IT" sz="2700" spc="-165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  <a:p>
                      <a:pPr marL="170815" marR="1228725" indent="9525">
                        <a:lnSpc>
                          <a:spcPts val="2600"/>
                        </a:lnSpc>
                        <a:spcBef>
                          <a:spcPts val="1350"/>
                        </a:spcBef>
                      </a:pPr>
                      <a:r>
                        <a:rPr sz="2700" spc="-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(PASS)</a:t>
                      </a:r>
                      <a:endParaRPr sz="27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7145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LAN</a:t>
                      </a:r>
                      <a:r>
                        <a:rPr sz="2400" spc="-9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Subnet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10489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235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R="19050" algn="ctr">
                        <a:lnSpc>
                          <a:spcPct val="100000"/>
                        </a:lnSpc>
                      </a:pPr>
                      <a:r>
                        <a:rPr sz="235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ANY</a:t>
                      </a:r>
                      <a:endParaRPr sz="235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118110" marB="0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 marR="1010919" indent="-5080" algn="ctr">
                        <a:lnSpc>
                          <a:spcPts val="2500"/>
                        </a:lnSpc>
                        <a:spcBef>
                          <a:spcPts val="2730"/>
                        </a:spcBef>
                      </a:pPr>
                      <a:r>
                        <a:rPr lang="it-IT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Regola standard che consente l'accesso generale a Internet per le operazioni aziendali.</a:t>
                      </a:r>
                      <a:endParaRPr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346710" marB="0" anchor="ctr">
                    <a:lnL w="28575">
                      <a:solidFill>
                        <a:srgbClr val="3B3B44"/>
                      </a:solidFill>
                      <a:prstDash val="solid"/>
                    </a:lnL>
                    <a:lnR w="28575">
                      <a:solidFill>
                        <a:srgbClr val="3B3B44"/>
                      </a:solidFill>
                      <a:prstDash val="solid"/>
                    </a:lnR>
                    <a:lnT w="28575">
                      <a:solidFill>
                        <a:srgbClr val="3B3B44"/>
                      </a:solidFill>
                      <a:prstDash val="solid"/>
                    </a:lnT>
                    <a:lnB w="28575">
                      <a:solidFill>
                        <a:srgbClr val="3B3B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5642412" y="9413522"/>
            <a:ext cx="13144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50" dirty="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75" dirty="0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BE6E436-D869-40E6-62AD-581E5A79EE78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5400" y="4000500"/>
            <a:ext cx="1397000" cy="901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1800" y="3517900"/>
            <a:ext cx="1371600" cy="1384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38200" y="3517900"/>
            <a:ext cx="1371600" cy="13843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554817" y="3928533"/>
            <a:ext cx="0" cy="317500"/>
          </a:xfrm>
          <a:custGeom>
            <a:avLst/>
            <a:gdLst/>
            <a:ahLst/>
            <a:cxnLst/>
            <a:rect l="l" t="t" r="r" b="b"/>
            <a:pathLst>
              <a:path h="317500">
                <a:moveTo>
                  <a:pt x="0" y="317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338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548467" y="3547533"/>
            <a:ext cx="1206500" cy="698500"/>
            <a:chOff x="2548467" y="3547533"/>
            <a:chExt cx="1206500" cy="698500"/>
          </a:xfrm>
        </p:grpSpPr>
        <p:sp>
          <p:nvSpPr>
            <p:cNvPr id="7" name="object 7"/>
            <p:cNvSpPr/>
            <p:nvPr/>
          </p:nvSpPr>
          <p:spPr>
            <a:xfrm>
              <a:off x="3735917" y="3928533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317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48467" y="3934883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>
                  <a:moveTo>
                    <a:pt x="0" y="0"/>
                  </a:moveTo>
                  <a:lnTo>
                    <a:pt x="119380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48467" y="4239683"/>
              <a:ext cx="673100" cy="0"/>
            </a:xfrm>
            <a:custGeom>
              <a:avLst/>
              <a:gdLst/>
              <a:ahLst/>
              <a:cxnLst/>
              <a:rect l="l" t="t" r="r" b="b"/>
              <a:pathLst>
                <a:path w="673100">
                  <a:moveTo>
                    <a:pt x="0" y="0"/>
                  </a:moveTo>
                  <a:lnTo>
                    <a:pt x="67310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4817" y="3547533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355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48617" y="3547533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355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48467" y="3553883"/>
              <a:ext cx="1206500" cy="0"/>
            </a:xfrm>
            <a:custGeom>
              <a:avLst/>
              <a:gdLst/>
              <a:ahLst/>
              <a:cxnLst/>
              <a:rect l="l" t="t" r="r" b="b"/>
              <a:pathLst>
                <a:path w="1206500">
                  <a:moveTo>
                    <a:pt x="0" y="0"/>
                  </a:moveTo>
                  <a:lnTo>
                    <a:pt x="120650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37367" y="3896783"/>
              <a:ext cx="1117600" cy="0"/>
            </a:xfrm>
            <a:custGeom>
              <a:avLst/>
              <a:gdLst/>
              <a:ahLst/>
              <a:cxnLst/>
              <a:rect l="l" t="t" r="r" b="b"/>
              <a:pathLst>
                <a:path w="1117600">
                  <a:moveTo>
                    <a:pt x="0" y="0"/>
                  </a:moveTo>
                  <a:lnTo>
                    <a:pt x="1117600" y="0"/>
                  </a:lnTo>
                </a:path>
              </a:pathLst>
            </a:custGeom>
            <a:ln w="12700">
              <a:solidFill>
                <a:srgbClr val="233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03500" y="3820583"/>
              <a:ext cx="1147445" cy="0"/>
            </a:xfrm>
            <a:custGeom>
              <a:avLst/>
              <a:gdLst/>
              <a:ahLst/>
              <a:cxnLst/>
              <a:rect l="l" t="t" r="r" b="b"/>
              <a:pathLst>
                <a:path w="1147445">
                  <a:moveTo>
                    <a:pt x="0" y="0"/>
                  </a:moveTo>
                  <a:lnTo>
                    <a:pt x="1147233" y="0"/>
                  </a:lnTo>
                </a:path>
              </a:pathLst>
            </a:custGeom>
            <a:ln w="29633">
              <a:solidFill>
                <a:srgbClr val="0F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812800" y="640535"/>
            <a:ext cx="16764000" cy="686441"/>
          </a:xfrm>
          <a:prstGeom prst="rect">
            <a:avLst/>
          </a:prstGeom>
        </p:spPr>
        <p:txBody>
          <a:bodyPr vert="horz" wrap="square" lIns="0" tIns="131162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5"/>
              </a:spcBef>
            </a:pPr>
            <a:r>
              <a:rPr lang="it-IT" sz="3600" dirty="0"/>
              <a:t>Oltre le soluzioni standard: Verificare la sicurezza con un toolkit personalizzato</a:t>
            </a:r>
            <a:endParaRPr sz="4000" dirty="0"/>
          </a:p>
        </p:txBody>
      </p:sp>
      <p:sp>
        <p:nvSpPr>
          <p:cNvPr id="16" name="object 16"/>
          <p:cNvSpPr txBox="1"/>
          <p:nvPr/>
        </p:nvSpPr>
        <p:spPr>
          <a:xfrm>
            <a:off x="1186260" y="1542697"/>
            <a:ext cx="15076805" cy="1604542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indent="21590" algn="ctr">
              <a:lnSpc>
                <a:spcPct val="89000"/>
              </a:lnSpc>
              <a:spcBef>
                <a:spcPts val="550"/>
              </a:spcBef>
            </a:pP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</a:rPr>
              <a:t>Le linee guida del progetto richiedevano un audit di rete approfondito ma vietavano esplicitamente l'uso di strumenti automatizzati standard come </a:t>
            </a:r>
            <a:r>
              <a:rPr lang="it-IT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Nmap</a:t>
            </a: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</a:rPr>
              <a:t>. Per soddisfare questo requisito, abbiamo sviluppato una suite proprietaria di strumenti basati su Python per la ricognizione e la convalida della rete.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04988" y="3551061"/>
            <a:ext cx="108839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25805" algn="l"/>
              </a:tabLst>
            </a:pPr>
            <a:r>
              <a:rPr sz="1350" i="1" spc="65" dirty="0">
                <a:solidFill>
                  <a:srgbClr val="182F41"/>
                </a:solidFill>
                <a:latin typeface="Arial"/>
                <a:cs typeface="Arial"/>
              </a:rPr>
              <a:t>0</a:t>
            </a:r>
            <a:r>
              <a:rPr sz="1350" i="1" spc="105" dirty="0">
                <a:solidFill>
                  <a:srgbClr val="182F41"/>
                </a:solidFill>
                <a:latin typeface="Arial"/>
                <a:cs typeface="Arial"/>
              </a:rPr>
              <a:t>  </a:t>
            </a:r>
            <a:r>
              <a:rPr sz="1350" spc="85" dirty="0">
                <a:solidFill>
                  <a:srgbClr val="11283D"/>
                </a:solidFill>
                <a:latin typeface="Arial MT"/>
                <a:cs typeface="Arial MT"/>
              </a:rPr>
              <a:t>D</a:t>
            </a:r>
            <a:r>
              <a:rPr sz="1350" spc="-195" dirty="0">
                <a:solidFill>
                  <a:srgbClr val="11283D"/>
                </a:solidFill>
                <a:latin typeface="Arial MT"/>
                <a:cs typeface="Arial MT"/>
              </a:rPr>
              <a:t> </a:t>
            </a:r>
            <a:r>
              <a:rPr sz="1350" spc="15" dirty="0">
                <a:solidFill>
                  <a:srgbClr val="132A3D"/>
                </a:solidFill>
                <a:latin typeface="Arial MT"/>
                <a:cs typeface="Arial MT"/>
              </a:rPr>
              <a:t>0</a:t>
            </a:r>
            <a:r>
              <a:rPr sz="1350" dirty="0">
                <a:solidFill>
                  <a:srgbClr val="132A3D"/>
                </a:solidFill>
                <a:latin typeface="Arial MT"/>
                <a:cs typeface="Arial MT"/>
              </a:rPr>
              <a:t>	</a:t>
            </a:r>
            <a:r>
              <a:rPr sz="1350" spc="65" dirty="0">
                <a:solidFill>
                  <a:srgbClr val="11263B"/>
                </a:solidFill>
                <a:latin typeface="Arial MT"/>
                <a:cs typeface="Arial MT"/>
              </a:rPr>
              <a:t>0</a:t>
            </a:r>
            <a:r>
              <a:rPr sz="1350" spc="405" dirty="0">
                <a:solidFill>
                  <a:srgbClr val="11263B"/>
                </a:solidFill>
                <a:latin typeface="Arial MT"/>
                <a:cs typeface="Arial MT"/>
              </a:rPr>
              <a:t> </a:t>
            </a:r>
            <a:r>
              <a:rPr sz="1350" spc="40" dirty="0">
                <a:solidFill>
                  <a:srgbClr val="0C2438"/>
                </a:solidFill>
                <a:latin typeface="Arial MT"/>
                <a:cs typeface="Arial MT"/>
              </a:rPr>
              <a:t>O</a:t>
            </a:r>
            <a:endParaRPr sz="1350">
              <a:latin typeface="Arial MT"/>
              <a:cs typeface="Arial MT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144979"/>
              </p:ext>
            </p:extLst>
          </p:nvPr>
        </p:nvGraphicFramePr>
        <p:xfrm>
          <a:off x="1111807" y="5174837"/>
          <a:ext cx="15373349" cy="5003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9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5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7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409">
                <a:tc>
                  <a:txBody>
                    <a:bodyPr/>
                    <a:lstStyle/>
                    <a:p>
                      <a:pPr marR="479425" algn="ctr">
                        <a:lnSpc>
                          <a:spcPts val="3295"/>
                        </a:lnSpc>
                      </a:pPr>
                      <a:r>
                        <a:rPr lang="it-IT" sz="2950" spc="120" dirty="0">
                          <a:solidFill>
                            <a:srgbClr val="032842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Mappatura della superficie di attacco</a:t>
                      </a:r>
                      <a:endParaRPr sz="295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ts val="3295"/>
                        </a:lnSpc>
                      </a:pPr>
                      <a:r>
                        <a:rPr lang="it-IT" sz="2950" spc="70" dirty="0">
                          <a:solidFill>
                            <a:srgbClr val="08263B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 MT"/>
                        </a:rPr>
                        <a:t>Analisi del traffico a Basso Livello</a:t>
                      </a:r>
                      <a:endParaRPr sz="295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3865" algn="ctr">
                        <a:lnSpc>
                          <a:spcPts val="3295"/>
                        </a:lnSpc>
                      </a:pPr>
                      <a:r>
                        <a:rPr lang="it-IT" sz="2950" dirty="0">
                          <a:solidFill>
                            <a:srgbClr val="032641"/>
                          </a:solidFill>
                          <a:latin typeface="Arial MT"/>
                          <a:cs typeface="Arial MT"/>
                        </a:rPr>
                        <a:t>Audit delle Applicazioni Web</a:t>
                      </a:r>
                      <a:endParaRPr sz="295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R="471805" algn="ctr">
                        <a:lnSpc>
                          <a:spcPts val="3315"/>
                        </a:lnSpc>
                        <a:spcBef>
                          <a:spcPts val="370"/>
                        </a:spcBef>
                      </a:pPr>
                      <a:r>
                        <a:rPr lang="it-IT" sz="29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Uno scanner di porte personalizzate per identificare servizi aperti, chiusi e filtrati senza affidarsi a software di terze parti.</a:t>
                      </a:r>
                      <a:endParaRPr sz="29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70485" algn="ctr">
                        <a:lnSpc>
                          <a:spcPts val="3315"/>
                        </a:lnSpc>
                        <a:spcBef>
                          <a:spcPts val="370"/>
                        </a:spcBef>
                      </a:pPr>
                      <a:r>
                        <a:rPr lang="it-IT" sz="29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</a:rPr>
                        <a:t>Uno sniffer di pacchetti su misura per catturare e decodificare dati di rete grezzi per indagini forensi.</a:t>
                      </a:r>
                      <a:endParaRPr sz="29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445770" algn="ctr">
                        <a:lnSpc>
                          <a:spcPts val="3315"/>
                        </a:lnSpc>
                        <a:spcBef>
                          <a:spcPts val="370"/>
                        </a:spcBef>
                      </a:pPr>
                      <a:r>
                        <a:rPr lang="it-IT" sz="2900" dirty="0">
                          <a:latin typeface="Cambria"/>
                          <a:cs typeface="Cambria"/>
                        </a:rPr>
                        <a:t>Un </a:t>
                      </a:r>
                      <a:r>
                        <a:rPr lang="it-IT" sz="2900" dirty="0" err="1">
                          <a:latin typeface="Cambria"/>
                          <a:cs typeface="Cambria"/>
                        </a:rPr>
                        <a:t>checker</a:t>
                      </a:r>
                      <a:r>
                        <a:rPr lang="it-IT" sz="2900" dirty="0">
                          <a:latin typeface="Cambria"/>
                          <a:cs typeface="Cambria"/>
                        </a:rPr>
                        <a:t> automatizzato dei verbi HTTP per sondare le configurazioni del server web alla ricerca di vulnerabilità di sicurezza.</a:t>
                      </a: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R="481330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6559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R="510540" algn="ctr">
                        <a:lnSpc>
                          <a:spcPts val="3000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3000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0370" algn="ctr">
                        <a:lnSpc>
                          <a:spcPts val="3000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R="501015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3225" algn="ctr">
                        <a:lnSpc>
                          <a:spcPts val="302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R="506095" algn="ctr">
                        <a:lnSpc>
                          <a:spcPts val="3185"/>
                        </a:lnSpc>
                      </a:pPr>
                      <a:endParaRPr sz="29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Arial MT"/>
                <a:cs typeface="Arial MT"/>
              </a:rPr>
              <a:t>G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80BF389-85DB-C8D0-19D0-DA7C181C03B9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37600" y="1972732"/>
            <a:ext cx="0" cy="7264400"/>
          </a:xfrm>
          <a:custGeom>
            <a:avLst/>
            <a:gdLst/>
            <a:ahLst/>
            <a:cxnLst/>
            <a:rect l="l" t="t" r="r" b="b"/>
            <a:pathLst>
              <a:path h="7264400">
                <a:moveTo>
                  <a:pt x="0" y="7264400"/>
                </a:moveTo>
                <a:lnTo>
                  <a:pt x="0" y="0"/>
                </a:lnTo>
              </a:path>
            </a:pathLst>
          </a:custGeom>
          <a:ln w="25400">
            <a:solidFill>
              <a:srgbClr val="4242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061038"/>
              </p:ext>
            </p:extLst>
          </p:nvPr>
        </p:nvGraphicFramePr>
        <p:xfrm>
          <a:off x="9563100" y="3052232"/>
          <a:ext cx="6824345" cy="610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F3448"/>
                      </a:solidFill>
                      <a:prstDash val="solid"/>
                    </a:lnL>
                    <a:lnR w="28575">
                      <a:solidFill>
                        <a:srgbClr val="1F3448"/>
                      </a:solidFill>
                      <a:prstDash val="solid"/>
                    </a:lnR>
                    <a:lnT w="28575">
                      <a:solidFill>
                        <a:srgbClr val="1F3448"/>
                      </a:solidFill>
                      <a:prstDash val="solid"/>
                    </a:lnT>
                    <a:lnB w="28575">
                      <a:solidFill>
                        <a:srgbClr val="1F34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F3448"/>
                      </a:solidFill>
                      <a:prstDash val="solid"/>
                    </a:lnL>
                    <a:lnR w="28575">
                      <a:solidFill>
                        <a:srgbClr val="1F3448"/>
                      </a:solidFill>
                      <a:prstDash val="solid"/>
                    </a:lnR>
                    <a:lnT w="28575">
                      <a:solidFill>
                        <a:srgbClr val="1F3448"/>
                      </a:solidFill>
                      <a:prstDash val="solid"/>
                    </a:lnT>
                    <a:lnB w="28575">
                      <a:solidFill>
                        <a:srgbClr val="1F34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F3448"/>
                      </a:solidFill>
                      <a:prstDash val="solid"/>
                    </a:lnL>
                    <a:lnR w="28575">
                      <a:solidFill>
                        <a:srgbClr val="1F3448"/>
                      </a:solidFill>
                      <a:prstDash val="solid"/>
                    </a:lnR>
                    <a:lnT w="28575">
                      <a:solidFill>
                        <a:srgbClr val="1F3448"/>
                      </a:solidFill>
                      <a:prstDash val="solid"/>
                    </a:lnT>
                    <a:lnB w="28575">
                      <a:solidFill>
                        <a:srgbClr val="1F34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5010">
                <a:tc gridSpan="3"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114"/>
                        </a:spcBef>
                        <a:tabLst>
                          <a:tab pos="1197610" algn="l"/>
                        </a:tabLst>
                      </a:pPr>
                      <a:r>
                        <a:rPr sz="2050" spc="55" dirty="0">
                          <a:latin typeface="Calibri"/>
                          <a:cs typeface="Calibri"/>
                        </a:rPr>
                        <a:t>Ter</a:t>
                      </a:r>
                      <a:r>
                        <a:rPr lang="it-IT" sz="2050" spc="55" dirty="0">
                          <a:latin typeface="Calibri"/>
                          <a:cs typeface="Calibri"/>
                        </a:rPr>
                        <a:t>mi</a:t>
                      </a:r>
                      <a:r>
                        <a:rPr sz="2050" spc="55" dirty="0" err="1">
                          <a:latin typeface="Calibri"/>
                          <a:cs typeface="Calibri"/>
                        </a:rPr>
                        <a:t>nal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114" dirty="0">
                          <a:latin typeface="Calibri"/>
                          <a:cs typeface="Calibri"/>
                        </a:rPr>
                        <a:t>Input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  <a:p>
                      <a:pPr marL="257175">
                        <a:lnSpc>
                          <a:spcPts val="2250"/>
                        </a:lnSpc>
                        <a:spcBef>
                          <a:spcPts val="390"/>
                        </a:spcBef>
                        <a:tabLst>
                          <a:tab pos="657860" algn="l"/>
                          <a:tab pos="1047750" algn="l"/>
                          <a:tab pos="1815464" algn="l"/>
                        </a:tabLst>
                      </a:pPr>
                      <a:r>
                        <a:rPr sz="2000" spc="55" dirty="0">
                          <a:latin typeface="Arial MT"/>
                          <a:cs typeface="Arial MT"/>
                        </a:rPr>
                        <a:t>IP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55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scan: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20" dirty="0">
                          <a:latin typeface="Arial MT"/>
                          <a:cs typeface="Arial MT"/>
                        </a:rPr>
                        <a:t>192.168.50.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101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248920">
                        <a:lnSpc>
                          <a:spcPts val="2250"/>
                        </a:lnSpc>
                        <a:tabLst>
                          <a:tab pos="1052195" algn="l"/>
                          <a:tab pos="1840230" algn="l"/>
                          <a:tab pos="2483485" algn="l"/>
                          <a:tab pos="3644265" algn="l"/>
                        </a:tabLst>
                      </a:pPr>
                      <a:r>
                        <a:rPr sz="2000" spc="60" dirty="0">
                          <a:latin typeface="Arial MT"/>
                          <a:cs typeface="Arial MT"/>
                        </a:rPr>
                        <a:t>Ports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range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65" dirty="0">
                          <a:latin typeface="Arial MT"/>
                          <a:cs typeface="Arial MT"/>
                        </a:rPr>
                        <a:t>(Es</a:t>
                      </a:r>
                      <a:r>
                        <a:rPr sz="2000" spc="-2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20-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it-IT" sz="2000" spc="-20" dirty="0">
                          <a:latin typeface="Arial MT"/>
                          <a:cs typeface="Arial MT"/>
                        </a:rPr>
                        <a:t>0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0):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10-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100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2000" spc="-55" dirty="0">
                          <a:latin typeface="Consolas"/>
                          <a:cs typeface="Consolas"/>
                        </a:rPr>
                        <a:t>Terminal</a:t>
                      </a:r>
                      <a:r>
                        <a:rPr sz="2000" spc="-2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Output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  <a:p>
                      <a:pPr marL="245745" marR="4866640" algn="just">
                        <a:lnSpc>
                          <a:spcPct val="82900"/>
                        </a:lnSpc>
                        <a:spcBef>
                          <a:spcPts val="590"/>
                        </a:spcBef>
                      </a:pP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30" dirty="0">
                          <a:latin typeface="Calibri"/>
                          <a:cs typeface="Calibri"/>
                        </a:rPr>
                        <a:t>21</a:t>
                      </a:r>
                      <a:r>
                        <a:rPr sz="215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30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150" spc="-240" dirty="0">
                          <a:latin typeface="Calibri"/>
                          <a:cs typeface="Calibri"/>
                        </a:rPr>
                        <a:t>OPEN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Pont</a:t>
                      </a:r>
                      <a:r>
                        <a:rPr sz="2150" spc="40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30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215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27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150" spc="-220" dirty="0">
                          <a:latin typeface="Calibri"/>
                          <a:cs typeface="Calibri"/>
                        </a:rPr>
                        <a:t>OPEFI </a:t>
                      </a: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30" dirty="0">
                          <a:latin typeface="Calibri"/>
                          <a:cs typeface="Calibri"/>
                        </a:rPr>
                        <a:t>23</a:t>
                      </a:r>
                      <a:r>
                        <a:rPr sz="215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30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it-IT" sz="2150" spc="-240" dirty="0">
                          <a:latin typeface="+mn-lt"/>
                          <a:cs typeface="Calibri"/>
                        </a:rPr>
                        <a:t>OPEN </a:t>
                      </a:r>
                      <a:r>
                        <a:rPr sz="2150" spc="-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3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215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30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it-IT" sz="2150" spc="-240" dirty="0">
                          <a:latin typeface="+mn-lt"/>
                          <a:cs typeface="Calibri"/>
                        </a:rPr>
                        <a:t>OPEN </a:t>
                      </a:r>
                      <a:r>
                        <a:rPr sz="2150" spc="-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4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spc="-345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lang="it-IT" sz="2150" spc="-345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15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31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150" spc="-240" dirty="0">
                          <a:latin typeface="Calibri"/>
                          <a:cs typeface="Calibri"/>
                        </a:rPr>
                        <a:t>OPEN </a:t>
                      </a:r>
                      <a:r>
                        <a:rPr sz="2150" spc="85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150" spc="4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it-IT" sz="2150" spc="4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2150" spc="-155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2150" spc="-1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150" spc="19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it-IT" sz="2150" spc="-240" dirty="0">
                          <a:latin typeface="+mn-lt"/>
                          <a:cs typeface="Calibri"/>
                        </a:rPr>
                        <a:t>OPEN </a:t>
                      </a:r>
                      <a:endParaRPr lang="it-IT" sz="2000" spc="-65" dirty="0">
                        <a:latin typeface="Consolas"/>
                        <a:cs typeface="Calibri"/>
                      </a:endParaRPr>
                    </a:p>
                    <a:p>
                      <a:pPr marL="245745" marR="4866640" algn="just">
                        <a:lnSpc>
                          <a:spcPct val="82900"/>
                        </a:lnSpc>
                        <a:spcBef>
                          <a:spcPts val="590"/>
                        </a:spcBef>
                      </a:pPr>
                      <a:endParaRPr sz="2000" dirty="0">
                        <a:latin typeface="Consolas"/>
                        <a:cs typeface="Consolas"/>
                      </a:endParaRPr>
                    </a:p>
                    <a:p>
                      <a:pPr marL="421640">
                        <a:lnSpc>
                          <a:spcPts val="2280"/>
                        </a:lnSpc>
                        <a:spcBef>
                          <a:spcPts val="1000"/>
                        </a:spcBef>
                        <a:tabLst>
                          <a:tab pos="1986280" algn="l"/>
                          <a:tab pos="3281679" algn="l"/>
                          <a:tab pos="3937000" algn="l"/>
                          <a:tab pos="4349115" algn="l"/>
                          <a:tab pos="4726305" algn="l"/>
                        </a:tabLst>
                      </a:pPr>
                      <a:r>
                        <a:rPr lang="nn-NO" sz="2050" dirty="0">
                          <a:latin typeface="Calibri"/>
                          <a:cs typeface="Calibri"/>
                        </a:rPr>
                        <a:t>[2025-</a:t>
                      </a:r>
                      <a:r>
                        <a:rPr lang="nn-NO" sz="2050" spc="55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lang="nn-NO" sz="2050" spc="1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lang="nn-NO" sz="2050" spc="-25" dirty="0">
                          <a:latin typeface="Calibri"/>
                          <a:cs typeface="Calibri"/>
                        </a:rPr>
                        <a:t>17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-105" dirty="0">
                          <a:latin typeface="Calibri"/>
                          <a:cs typeface="Calibri"/>
                        </a:rPr>
                        <a:t>08</a:t>
                      </a:r>
                      <a:r>
                        <a:rPr lang="nn-NO" sz="2050" spc="-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nn-NO" sz="2050" spc="-5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lang="nn-NO" sz="205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nn-NO" sz="2050" spc="-60" dirty="0">
                          <a:latin typeface="Calibri"/>
                          <a:cs typeface="Calibri"/>
                        </a:rPr>
                        <a:t>48</a:t>
                      </a:r>
                      <a:r>
                        <a:rPr lang="nn-NO" sz="2050" spc="-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nn-NO" sz="2050" spc="105" dirty="0">
                          <a:latin typeface="Calibri"/>
                          <a:cs typeface="Calibri"/>
                        </a:rPr>
                        <a:t>:27]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80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-25" dirty="0">
                          <a:latin typeface="Calibri"/>
                          <a:cs typeface="Calibri"/>
                        </a:rPr>
                        <a:t>21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5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lang="nn-NO" sz="2050" spc="5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lang="nn-NO"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nn-NO" sz="2050" spc="-20" dirty="0">
                          <a:latin typeface="Calibri"/>
                          <a:cs typeface="Calibri"/>
                        </a:rPr>
                        <a:t>OPEN</a:t>
                      </a:r>
                      <a:endParaRPr lang="nn-NO" sz="2050" dirty="0">
                        <a:latin typeface="Calibri"/>
                        <a:cs typeface="Calibri"/>
                      </a:endParaRPr>
                    </a:p>
                    <a:p>
                      <a:pPr marL="421640">
                        <a:lnSpc>
                          <a:spcPts val="2280"/>
                        </a:lnSpc>
                        <a:tabLst>
                          <a:tab pos="1986280" algn="l"/>
                          <a:tab pos="3281679" algn="l"/>
                          <a:tab pos="3937000" algn="l"/>
                          <a:tab pos="4349115" algn="l"/>
                          <a:tab pos="4726305" algn="l"/>
                        </a:tabLst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[2025</a:t>
                      </a:r>
                      <a:r>
                        <a:rPr sz="20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6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50" spc="90" dirty="0">
                          <a:latin typeface="Calibri"/>
                          <a:cs typeface="Calibri"/>
                        </a:rPr>
                        <a:t>12-</a:t>
                      </a:r>
                      <a:r>
                        <a:rPr sz="2050" spc="85" dirty="0">
                          <a:latin typeface="Calibri"/>
                          <a:cs typeface="Calibri"/>
                        </a:rPr>
                        <a:t>17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105" dirty="0">
                          <a:latin typeface="Calibri"/>
                          <a:cs typeface="Calibri"/>
                        </a:rPr>
                        <a:t>08</a:t>
                      </a:r>
                      <a:r>
                        <a:rPr sz="2050" spc="-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5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05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60" dirty="0">
                          <a:latin typeface="Calibri"/>
                          <a:cs typeface="Calibri"/>
                        </a:rPr>
                        <a:t>48</a:t>
                      </a:r>
                      <a:r>
                        <a:rPr sz="2050" spc="-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105" dirty="0">
                          <a:latin typeface="Calibri"/>
                          <a:cs typeface="Calibri"/>
                        </a:rPr>
                        <a:t>:27]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80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5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50" spc="5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10" dirty="0">
                          <a:latin typeface="Calibri"/>
                          <a:cs typeface="Calibri"/>
                        </a:rPr>
                        <a:t>OPE</a:t>
                      </a:r>
                      <a:r>
                        <a:rPr lang="it-IT" sz="2050" spc="-10" dirty="0">
                          <a:latin typeface="Calibri"/>
                          <a:cs typeface="Calibri"/>
                        </a:rPr>
                        <a:t>N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  <a:spcBef>
                          <a:spcPts val="1839"/>
                        </a:spcBef>
                        <a:tabLst>
                          <a:tab pos="1986280" algn="l"/>
                          <a:tab pos="3281679" algn="l"/>
                          <a:tab pos="3937000" algn="l"/>
                          <a:tab pos="4349115" algn="l"/>
                          <a:tab pos="4726305" algn="l"/>
                        </a:tabLst>
                      </a:pPr>
                      <a:r>
                        <a:rPr sz="2050" spc="55" dirty="0">
                          <a:latin typeface="Calibri"/>
                          <a:cs typeface="Calibri"/>
                        </a:rPr>
                        <a:t>[2025-12-</a:t>
                      </a:r>
                      <a:r>
                        <a:rPr sz="2050" spc="45" dirty="0">
                          <a:latin typeface="Calibri"/>
                          <a:cs typeface="Calibri"/>
                        </a:rPr>
                        <a:t>17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105" dirty="0">
                          <a:latin typeface="Calibri"/>
                          <a:cs typeface="Calibri"/>
                        </a:rPr>
                        <a:t>08</a:t>
                      </a:r>
                      <a:r>
                        <a:rPr sz="2050" spc="-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5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05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60" dirty="0">
                          <a:latin typeface="Calibri"/>
                          <a:cs typeface="Calibri"/>
                        </a:rPr>
                        <a:t>48</a:t>
                      </a:r>
                      <a:r>
                        <a:rPr sz="2050" spc="-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105" dirty="0">
                          <a:latin typeface="Calibri"/>
                          <a:cs typeface="Calibri"/>
                        </a:rPr>
                        <a:t>:27]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80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24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5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50" spc="5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10" dirty="0">
                          <a:latin typeface="Calibri"/>
                          <a:cs typeface="Calibri"/>
                        </a:rPr>
                        <a:t>CLOSED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  <a:p>
                      <a:pPr marL="408305">
                        <a:lnSpc>
                          <a:spcPct val="100000"/>
                        </a:lnSpc>
                        <a:spcBef>
                          <a:spcPts val="1739"/>
                        </a:spcBef>
                        <a:tabLst>
                          <a:tab pos="1061720" algn="l"/>
                          <a:tab pos="1996439" algn="l"/>
                          <a:tab pos="2628900" algn="l"/>
                          <a:tab pos="3149600" algn="l"/>
                          <a:tab pos="3670300" algn="l"/>
                          <a:tab pos="4204970" algn="l"/>
                          <a:tab pos="4728210" algn="l"/>
                        </a:tabLst>
                      </a:pPr>
                      <a:r>
                        <a:rPr sz="2050" spc="-20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165" dirty="0">
                          <a:latin typeface="Calibri"/>
                          <a:cs typeface="Calibri"/>
                        </a:rPr>
                        <a:t>ports: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100" dirty="0">
                          <a:latin typeface="Calibri"/>
                          <a:cs typeface="Calibri"/>
                        </a:rPr>
                        <a:t>[21,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45" dirty="0">
                          <a:latin typeface="Calibri"/>
                          <a:cs typeface="Calibri"/>
                        </a:rPr>
                        <a:t>22,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45" dirty="0">
                          <a:latin typeface="Calibri"/>
                          <a:cs typeface="Calibri"/>
                        </a:rPr>
                        <a:t>23,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45" dirty="0">
                          <a:latin typeface="Calibri"/>
                          <a:cs typeface="Calibri"/>
                        </a:rPr>
                        <a:t>25,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53,</a:t>
                      </a:r>
                      <a:r>
                        <a:rPr sz="2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80]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1F3448"/>
                      </a:solidFill>
                      <a:prstDash val="solid"/>
                    </a:lnL>
                    <a:lnR w="28575">
                      <a:solidFill>
                        <a:srgbClr val="1F3448"/>
                      </a:solidFill>
                      <a:prstDash val="solid"/>
                    </a:lnR>
                    <a:lnT w="28575">
                      <a:solidFill>
                        <a:srgbClr val="1F3448"/>
                      </a:solidFill>
                      <a:prstDash val="solid"/>
                    </a:lnT>
                    <a:lnB w="28575">
                      <a:solidFill>
                        <a:srgbClr val="1F344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831916" y="6705600"/>
            <a:ext cx="0" cy="2256790"/>
          </a:xfrm>
          <a:custGeom>
            <a:avLst/>
            <a:gdLst/>
            <a:ahLst/>
            <a:cxnLst/>
            <a:rect l="l" t="t" r="r" b="b"/>
            <a:pathLst>
              <a:path h="2256790">
                <a:moveTo>
                  <a:pt x="0" y="22563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328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972781" y="6629400"/>
            <a:ext cx="6337300" cy="2256790"/>
            <a:chOff x="9821333" y="6705600"/>
            <a:chExt cx="6337300" cy="2256790"/>
          </a:xfrm>
        </p:grpSpPr>
        <p:sp>
          <p:nvSpPr>
            <p:cNvPr id="6" name="object 6"/>
            <p:cNvSpPr/>
            <p:nvPr/>
          </p:nvSpPr>
          <p:spPr>
            <a:xfrm>
              <a:off x="16148054" y="6705600"/>
              <a:ext cx="0" cy="2256790"/>
            </a:xfrm>
            <a:custGeom>
              <a:avLst/>
              <a:gdLst/>
              <a:ahLst/>
              <a:cxnLst/>
              <a:rect l="l" t="t" r="r" b="b"/>
              <a:pathLst>
                <a:path h="2256790">
                  <a:moveTo>
                    <a:pt x="0" y="2256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13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21333" y="6716183"/>
              <a:ext cx="6337300" cy="0"/>
            </a:xfrm>
            <a:custGeom>
              <a:avLst/>
              <a:gdLst/>
              <a:ahLst/>
              <a:cxnLst/>
              <a:rect l="l" t="t" r="r" b="b"/>
              <a:pathLst>
                <a:path w="6337300">
                  <a:moveTo>
                    <a:pt x="0" y="0"/>
                  </a:moveTo>
                  <a:lnTo>
                    <a:pt x="6337300" y="0"/>
                  </a:lnTo>
                </a:path>
              </a:pathLst>
            </a:custGeom>
            <a:ln w="21166">
              <a:solidFill>
                <a:srgbClr val="13283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9821333" y="8951383"/>
              <a:ext cx="6337300" cy="0"/>
            </a:xfrm>
            <a:custGeom>
              <a:avLst/>
              <a:gdLst/>
              <a:ahLst/>
              <a:cxnLst/>
              <a:rect l="l" t="t" r="r" b="b"/>
              <a:pathLst>
                <a:path w="6337300">
                  <a:moveTo>
                    <a:pt x="0" y="0"/>
                  </a:moveTo>
                  <a:lnTo>
                    <a:pt x="6337300" y="0"/>
                  </a:lnTo>
                </a:path>
              </a:pathLst>
            </a:custGeom>
            <a:ln w="21166">
              <a:solidFill>
                <a:srgbClr val="13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821333" y="7114116"/>
              <a:ext cx="6337300" cy="0"/>
            </a:xfrm>
            <a:custGeom>
              <a:avLst/>
              <a:gdLst/>
              <a:ahLst/>
              <a:cxnLst/>
              <a:rect l="l" t="t" r="r" b="b"/>
              <a:pathLst>
                <a:path w="6337300">
                  <a:moveTo>
                    <a:pt x="0" y="0"/>
                  </a:moveTo>
                  <a:lnTo>
                    <a:pt x="6337300" y="0"/>
                  </a:lnTo>
                </a:path>
              </a:pathLst>
            </a:custGeom>
            <a:ln w="21166">
              <a:solidFill>
                <a:srgbClr val="13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9730316" y="4720166"/>
            <a:ext cx="0" cy="4297045"/>
          </a:xfrm>
          <a:custGeom>
            <a:avLst/>
            <a:gdLst/>
            <a:ahLst/>
            <a:cxnLst/>
            <a:rect l="l" t="t" r="r" b="b"/>
            <a:pathLst>
              <a:path h="4297045">
                <a:moveTo>
                  <a:pt x="0" y="4296833"/>
                </a:moveTo>
                <a:lnTo>
                  <a:pt x="0" y="0"/>
                </a:lnTo>
              </a:path>
            </a:pathLst>
          </a:custGeom>
          <a:ln w="4233">
            <a:solidFill>
              <a:srgbClr val="3F48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308916" y="4720166"/>
            <a:ext cx="0" cy="4309745"/>
          </a:xfrm>
          <a:custGeom>
            <a:avLst/>
            <a:gdLst/>
            <a:ahLst/>
            <a:cxnLst/>
            <a:rect l="l" t="t" r="r" b="b"/>
            <a:pathLst>
              <a:path h="4309745">
                <a:moveTo>
                  <a:pt x="0" y="4309533"/>
                </a:moveTo>
                <a:lnTo>
                  <a:pt x="0" y="0"/>
                </a:lnTo>
              </a:path>
            </a:pathLst>
          </a:custGeom>
          <a:ln w="4233">
            <a:solidFill>
              <a:srgbClr val="3F48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15500" y="4734983"/>
            <a:ext cx="2214245" cy="0"/>
          </a:xfrm>
          <a:custGeom>
            <a:avLst/>
            <a:gdLst/>
            <a:ahLst/>
            <a:cxnLst/>
            <a:rect l="l" t="t" r="r" b="b"/>
            <a:pathLst>
              <a:path w="2214245">
                <a:moveTo>
                  <a:pt x="0" y="0"/>
                </a:moveTo>
                <a:lnTo>
                  <a:pt x="2214033" y="0"/>
                </a:lnTo>
              </a:path>
            </a:pathLst>
          </a:custGeom>
          <a:ln w="4233">
            <a:solidFill>
              <a:srgbClr val="3F48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097000" y="4722283"/>
            <a:ext cx="2214245" cy="0"/>
          </a:xfrm>
          <a:custGeom>
            <a:avLst/>
            <a:gdLst/>
            <a:ahLst/>
            <a:cxnLst/>
            <a:rect l="l" t="t" r="r" b="b"/>
            <a:pathLst>
              <a:path w="2214244">
                <a:moveTo>
                  <a:pt x="0" y="0"/>
                </a:moveTo>
                <a:lnTo>
                  <a:pt x="2214033" y="0"/>
                </a:lnTo>
              </a:path>
            </a:pathLst>
          </a:custGeom>
          <a:ln w="4233">
            <a:solidFill>
              <a:srgbClr val="3F48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679516" y="3598333"/>
            <a:ext cx="0" cy="927100"/>
          </a:xfrm>
          <a:custGeom>
            <a:avLst/>
            <a:gdLst/>
            <a:ahLst/>
            <a:cxnLst/>
            <a:rect l="l" t="t" r="r" b="b"/>
            <a:pathLst>
              <a:path h="927100">
                <a:moveTo>
                  <a:pt x="0" y="9271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F3B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9673166" y="3564466"/>
            <a:ext cx="6604000" cy="961390"/>
            <a:chOff x="9673166" y="3564466"/>
            <a:chExt cx="6604000" cy="961390"/>
          </a:xfrm>
        </p:grpSpPr>
        <p:sp>
          <p:nvSpPr>
            <p:cNvPr id="16" name="object 16"/>
            <p:cNvSpPr/>
            <p:nvPr/>
          </p:nvSpPr>
          <p:spPr>
            <a:xfrm>
              <a:off x="16270820" y="3598332"/>
              <a:ext cx="0" cy="927100"/>
            </a:xfrm>
            <a:custGeom>
              <a:avLst/>
              <a:gdLst/>
              <a:ahLst/>
              <a:cxnLst/>
              <a:rect l="l" t="t" r="r" b="b"/>
              <a:pathLst>
                <a:path h="927100">
                  <a:moveTo>
                    <a:pt x="0" y="927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F3B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991170" y="3604682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12700">
              <a:solidFill>
                <a:srgbClr val="2F3B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73166" y="4519082"/>
              <a:ext cx="6604000" cy="0"/>
            </a:xfrm>
            <a:custGeom>
              <a:avLst/>
              <a:gdLst/>
              <a:ahLst/>
              <a:cxnLst/>
              <a:rect l="l" t="t" r="r" b="b"/>
              <a:pathLst>
                <a:path w="6604000">
                  <a:moveTo>
                    <a:pt x="0" y="0"/>
                  </a:moveTo>
                  <a:lnTo>
                    <a:pt x="6604000" y="0"/>
                  </a:lnTo>
                </a:path>
              </a:pathLst>
            </a:custGeom>
            <a:ln w="12700">
              <a:solidFill>
                <a:srgbClr val="2F3B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40899" y="3566583"/>
              <a:ext cx="2252345" cy="0"/>
            </a:xfrm>
            <a:custGeom>
              <a:avLst/>
              <a:gdLst/>
              <a:ahLst/>
              <a:cxnLst/>
              <a:rect l="l" t="t" r="r" b="b"/>
              <a:pathLst>
                <a:path w="2252345">
                  <a:moveTo>
                    <a:pt x="0" y="0"/>
                  </a:moveTo>
                  <a:lnTo>
                    <a:pt x="2252133" y="0"/>
                  </a:lnTo>
                </a:path>
              </a:pathLst>
            </a:custGeom>
            <a:ln w="4233">
              <a:solidFill>
                <a:srgbClr val="282F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02068" y="605899"/>
            <a:ext cx="16699702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lang="it-IT" sz="4000" dirty="0"/>
              <a:t>Approfondimento Strumento 1: Lo Scanner di Porte Personalizzato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8338" y="1884538"/>
            <a:ext cx="2733861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it-IT" sz="3600" spc="50" dirty="0">
                <a:solidFill>
                  <a:srgbClr val="0C2A4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Logica Script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xfrm>
            <a:off x="1102068" y="2874433"/>
            <a:ext cx="6997700" cy="815287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6235" marR="648335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Requisito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Mappare la superficie di attacco della rete senza utilizzare </a:t>
            </a:r>
            <a:r>
              <a:rPr lang="it-IT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Nmap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356235" marR="648335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 Nostra Soluzione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poctscnRange.py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uno strumento Python che utilizza connessioni </a:t>
            </a:r>
            <a:r>
              <a:rPr lang="it-IT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socket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 basso livello.</a:t>
            </a:r>
          </a:p>
          <a:p>
            <a:pPr marL="356235" marR="648335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Vantaggio Tecnico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Utilizza </a:t>
            </a: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socket.connect_ex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() 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 analizzare i codici di ritorno del sistema operativo, fornendo una diagnosi più granulare rispetto a un semplice test di connessione.</a:t>
            </a:r>
          </a:p>
          <a:p>
            <a:pPr marL="641985" marR="648335" lvl="1" indent="-17145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Status 0: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La porta è APERTA</a:t>
            </a:r>
          </a:p>
          <a:p>
            <a:pPr marL="641985" marR="648335" lvl="1" indent="-17145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Status 111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(ECONNREFUSED) 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La porta è definitivamente CHIUSA.</a:t>
            </a:r>
          </a:p>
          <a:p>
            <a:pPr marL="641985" marR="648335" lvl="1" indent="-17145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r>
              <a:rPr lang="it-IT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Status 110/11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Timeout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La porta è FILTRATA (es. da un firewall), indicando un pacchetto scartato.</a:t>
            </a:r>
          </a:p>
          <a:p>
            <a:pPr marL="813435" marR="648335" lvl="1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endParaRPr lang="it-IT" sz="9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813435" marR="648335" lvl="1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endParaRPr lang="it-IT" sz="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13435" marR="648335" lvl="1" indent="-342900">
              <a:lnSpc>
                <a:spcPts val="3300"/>
              </a:lnSpc>
              <a:spcBef>
                <a:spcPts val="375"/>
              </a:spcBef>
              <a:buClr>
                <a:srgbClr val="414141"/>
              </a:buClr>
              <a:buFont typeface="Arial" panose="020B0604020202020204" pitchFamily="34" charset="0"/>
              <a:buChar char="•"/>
              <a:tabLst>
                <a:tab pos="442595" algn="l"/>
              </a:tabLst>
            </a:pPr>
            <a:endParaRPr lang="it-IT" sz="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endParaRPr lang="it-IT" sz="20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endParaRPr lang="it-IT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sz="2000" dirty="0">
                <a:latin typeface="Cambria" panose="02040503050406030204" pitchFamily="18" charset="0"/>
                <a:ea typeface="Cambria" panose="02040503050406030204" pitchFamily="18" charset="0"/>
              </a:rPr>
              <a:t>	o </a:t>
            </a:r>
            <a:r>
              <a:rPr lang="it-IT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endParaRPr lang="it-IT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53795" y="1893358"/>
            <a:ext cx="6800215" cy="10631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4130"/>
              </a:lnSpc>
              <a:spcBef>
                <a:spcPts val="90"/>
              </a:spcBef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Proof of Concept: </a:t>
            </a:r>
            <a:r>
              <a:rPr lang="en-US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Scansione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del Web Server DMZ</a:t>
            </a:r>
            <a:endParaRPr sz="325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Calibri"/>
                <a:cs typeface="Calibri"/>
              </a:rPr>
              <a:t>G</a:t>
            </a:r>
            <a:r>
              <a:rPr sz="1500" spc="100" dirty="0">
                <a:latin typeface="Calibri"/>
                <a:cs typeface="Calibri"/>
              </a:rPr>
              <a:t>  </a:t>
            </a:r>
            <a:r>
              <a:rPr sz="1500" spc="-25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BD3CCC9F-42EF-EAFB-E6B2-0C7F681847E1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AB3E6C1-C68F-2B81-76AD-97805E980A36}"/>
              </a:ext>
            </a:extLst>
          </p:cNvPr>
          <p:cNvSpPr txBox="1"/>
          <p:nvPr/>
        </p:nvSpPr>
        <p:spPr>
          <a:xfrm>
            <a:off x="11993244" y="6657578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onsolas" panose="020B0609020204030204" pitchFamily="49" charset="0"/>
              </a:rPr>
              <a:t>Log File </a:t>
            </a:r>
            <a:r>
              <a:rPr lang="it-IT" dirty="0" err="1">
                <a:latin typeface="Consolas" panose="020B0609020204030204" pitchFamily="49" charset="0"/>
              </a:rPr>
              <a:t>Snippet</a:t>
            </a:r>
            <a:endParaRPr lang="it-IT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73100" y="0"/>
            <a:ext cx="4445" cy="9740900"/>
          </a:xfrm>
          <a:custGeom>
            <a:avLst/>
            <a:gdLst/>
            <a:ahLst/>
            <a:cxnLst/>
            <a:rect l="l" t="t" r="r" b="b"/>
            <a:pathLst>
              <a:path w="4445" h="9740900">
                <a:moveTo>
                  <a:pt x="4233" y="9740900"/>
                </a:moveTo>
                <a:lnTo>
                  <a:pt x="0" y="9740900"/>
                </a:lnTo>
                <a:lnTo>
                  <a:pt x="0" y="0"/>
                </a:lnTo>
                <a:lnTo>
                  <a:pt x="4233" y="0"/>
                </a:lnTo>
                <a:lnTo>
                  <a:pt x="4233" y="9740900"/>
                </a:lnTo>
                <a:close/>
              </a:path>
            </a:pathLst>
          </a:custGeom>
          <a:solidFill>
            <a:srgbClr val="4F5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52416" y="2065867"/>
            <a:ext cx="0" cy="7103745"/>
          </a:xfrm>
          <a:custGeom>
            <a:avLst/>
            <a:gdLst/>
            <a:ahLst/>
            <a:cxnLst/>
            <a:rect l="l" t="t" r="r" b="b"/>
            <a:pathLst>
              <a:path h="7103745">
                <a:moveTo>
                  <a:pt x="0" y="7103533"/>
                </a:moveTo>
                <a:lnTo>
                  <a:pt x="0" y="0"/>
                </a:lnTo>
              </a:path>
            </a:pathLst>
          </a:custGeom>
          <a:ln w="4233">
            <a:solidFill>
              <a:srgbClr val="4F5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802100" y="0"/>
            <a:ext cx="4445" cy="9385300"/>
          </a:xfrm>
          <a:custGeom>
            <a:avLst/>
            <a:gdLst/>
            <a:ahLst/>
            <a:cxnLst/>
            <a:rect l="l" t="t" r="r" b="b"/>
            <a:pathLst>
              <a:path w="4444" h="9385300">
                <a:moveTo>
                  <a:pt x="4233" y="9385300"/>
                </a:moveTo>
                <a:lnTo>
                  <a:pt x="0" y="9385300"/>
                </a:lnTo>
                <a:lnTo>
                  <a:pt x="0" y="0"/>
                </a:lnTo>
                <a:lnTo>
                  <a:pt x="4233" y="0"/>
                </a:lnTo>
                <a:lnTo>
                  <a:pt x="4233" y="9385300"/>
                </a:lnTo>
                <a:close/>
              </a:path>
            </a:pathLst>
          </a:custGeom>
          <a:solidFill>
            <a:srgbClr val="4F5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700" y="9177866"/>
            <a:ext cx="17462500" cy="4445"/>
          </a:xfrm>
          <a:custGeom>
            <a:avLst/>
            <a:gdLst/>
            <a:ahLst/>
            <a:cxnLst/>
            <a:rect l="l" t="t" r="r" b="b"/>
            <a:pathLst>
              <a:path w="17462500" h="4445">
                <a:moveTo>
                  <a:pt x="17462500" y="4233"/>
                </a:moveTo>
                <a:lnTo>
                  <a:pt x="0" y="4233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4233"/>
                </a:lnTo>
                <a:close/>
              </a:path>
            </a:pathLst>
          </a:custGeom>
          <a:solidFill>
            <a:srgbClr val="4F5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2044" y="1676400"/>
            <a:ext cx="16120744" cy="0"/>
          </a:xfrm>
          <a:custGeom>
            <a:avLst/>
            <a:gdLst/>
            <a:ahLst/>
            <a:cxnLst/>
            <a:rect l="l" t="t" r="r" b="b"/>
            <a:pathLst>
              <a:path w="16120744">
                <a:moveTo>
                  <a:pt x="0" y="0"/>
                </a:moveTo>
                <a:lnTo>
                  <a:pt x="16120534" y="0"/>
                </a:lnTo>
              </a:path>
            </a:pathLst>
          </a:custGeom>
          <a:ln w="4233">
            <a:solidFill>
              <a:srgbClr val="4F5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700" y="567267"/>
            <a:ext cx="17462500" cy="4445"/>
          </a:xfrm>
          <a:custGeom>
            <a:avLst/>
            <a:gdLst/>
            <a:ahLst/>
            <a:cxnLst/>
            <a:rect l="l" t="t" r="r" b="b"/>
            <a:pathLst>
              <a:path w="17462500" h="4445">
                <a:moveTo>
                  <a:pt x="17462500" y="4233"/>
                </a:moveTo>
                <a:lnTo>
                  <a:pt x="0" y="4233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4233"/>
                </a:lnTo>
                <a:close/>
              </a:path>
            </a:pathLst>
          </a:custGeom>
          <a:solidFill>
            <a:srgbClr val="4F5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896206" y="634647"/>
            <a:ext cx="1244536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6000" dirty="0"/>
              <a:t>Lo Sniffer di Pacchetti Grezzi</a:t>
            </a:r>
            <a:endParaRPr sz="59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sz="half" idx="2"/>
          </p:nvPr>
        </p:nvSpPr>
        <p:spPr>
          <a:xfrm>
            <a:off x="896206" y="1941576"/>
            <a:ext cx="7379970" cy="5171287"/>
          </a:xfrm>
          <a:prstGeom prst="rect">
            <a:avLst/>
          </a:prstGeom>
        </p:spPr>
        <p:txBody>
          <a:bodyPr vert="horz" wrap="square" lIns="0" tIns="208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lang="it-IT" sz="4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proposta</a:t>
            </a:r>
            <a:endParaRPr lang="it-IT" sz="4400" spc="-1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645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Obiettivo: Catturare e analizzare pacchetti di rete grezzi direttamente dall'interfaccia di rete per un'ispezione approfondita del traffico.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Funzionalità Principale: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it-IT" sz="1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 lega alla scheda di rete a basso livello </a:t>
            </a:r>
            <a:r>
              <a:rPr lang="it-IT" sz="20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it-IT" sz="20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socket.AF_PACKET</a:t>
            </a:r>
            <a:r>
              <a:rPr lang="it-IT" sz="20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 intercettare tutto il traffico.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Decodifica le intestazioni Ethernet e IPv4 utilizzando la libreria </a:t>
            </a:r>
            <a:r>
              <a:rPr lang="it-IT" sz="24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'</a:t>
            </a:r>
            <a:r>
              <a:rPr lang="it-IT" sz="24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struct</a:t>
            </a:r>
            <a:r>
              <a:rPr lang="it-IT" sz="24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' 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 interpretare i dati binari.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Filtra il traffico per isolare le conversazioni</a:t>
            </a:r>
          </a:p>
          <a:p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 	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271338" y="2010833"/>
            <a:ext cx="7306040" cy="691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it-IT" sz="4400" dirty="0">
                <a:latin typeface="Cambria" panose="02040503050406030204" pitchFamily="18" charset="0"/>
                <a:ea typeface="Cambria" panose="02040503050406030204" pitchFamily="18" charset="0"/>
              </a:rPr>
              <a:t>Analisi del Traffico Catturato</a:t>
            </a:r>
            <a:endParaRPr sz="415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88745" y="5811331"/>
            <a:ext cx="6807200" cy="263642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85"/>
              </a:spcBef>
            </a:pPr>
            <a:endParaRPr sz="185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411480" marR="5080" indent="-399415">
              <a:lnSpc>
                <a:spcPct val="89200"/>
              </a:lnSpc>
            </a:pPr>
            <a:r>
              <a:rPr sz="2550" spc="95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50" spc="-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Packet</a:t>
            </a:r>
            <a:r>
              <a:rPr sz="2550" spc="5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l</a:t>
            </a:r>
            <a:r>
              <a:rPr sz="2550" spc="27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50" spc="-9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it-IT" sz="2550" spc="-9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 uscita</a:t>
            </a:r>
            <a:r>
              <a:rPr sz="2550" spc="-9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):</a:t>
            </a:r>
            <a:r>
              <a:rPr sz="2550" spc="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Mostra un piccolo pacchetto proveniente dalla nostra rete, probabilmente un pacchetto di controllo TCP o una query DNS.</a:t>
            </a:r>
          </a:p>
          <a:p>
            <a:pPr marL="411480" marR="5080" indent="-399415">
              <a:lnSpc>
                <a:spcPct val="89200"/>
              </a:lnSpc>
            </a:pPr>
            <a:endParaRPr lang="it-IT"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411480" marR="5080" indent="-399415">
              <a:lnSpc>
                <a:spcPct val="89200"/>
              </a:lnSpc>
            </a:pPr>
            <a:r>
              <a:rPr sz="2500" spc="-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Packet</a:t>
            </a:r>
            <a:r>
              <a:rPr sz="2500" spc="-1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00" spc="5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</a:t>
            </a:r>
            <a:r>
              <a:rPr sz="2500" spc="-27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5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(In</a:t>
            </a:r>
            <a:r>
              <a:rPr lang="it-IT" sz="25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Entrata</a:t>
            </a:r>
            <a:r>
              <a:rPr sz="25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):</a:t>
            </a:r>
            <a:r>
              <a:rPr sz="2500" spc="-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Mostra la risposta corrispondente dal server esterno, confermando una comunicazione bidirezionale riuscita.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Calibri"/>
                <a:cs typeface="Calibri"/>
              </a:rPr>
              <a:t>G</a:t>
            </a:r>
            <a:r>
              <a:rPr sz="1500" spc="100" dirty="0">
                <a:latin typeface="Calibri"/>
                <a:cs typeface="Calibri"/>
              </a:rPr>
              <a:t>  </a:t>
            </a:r>
            <a:r>
              <a:rPr sz="1500" spc="-25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D50482A6-0621-9280-A02B-8CF662E70797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F0DEDFF-7D8C-E327-C868-F91841879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100" y="2867464"/>
            <a:ext cx="5952489" cy="2970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37600" y="1993900"/>
            <a:ext cx="0" cy="6972300"/>
          </a:xfrm>
          <a:custGeom>
            <a:avLst/>
            <a:gdLst/>
            <a:ahLst/>
            <a:cxnLst/>
            <a:rect l="l" t="t" r="r" b="b"/>
            <a:pathLst>
              <a:path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ln w="50800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08970" y="567266"/>
            <a:ext cx="15657258" cy="94000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it-IT" sz="6000" dirty="0"/>
              <a:t>L'Auditor dei Verbi HTTP</a:t>
            </a:r>
            <a:endParaRPr sz="5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8209" y="1734457"/>
            <a:ext cx="7347584" cy="10379187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  <a:tabLst>
                <a:tab pos="922019" algn="l"/>
              </a:tabLst>
            </a:pPr>
            <a:r>
              <a:rPr lang="it-IT" sz="3750" spc="25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La proposta</a:t>
            </a:r>
          </a:p>
          <a:p>
            <a:pPr marL="459105" marR="5080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Obiettivo: Scoprire automaticamente quali metodi HTTP (GET, POST, PUT, DELETE, ecc.) un server web consente su uno specifico URL.</a:t>
            </a:r>
          </a:p>
          <a:p>
            <a:pPr marL="459105" marR="5080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Metodologia:</a:t>
            </a: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1. Invia una richiesta OPTIONS per una ricognizione iniziale, che spesso rivela l'intestazione "</a:t>
            </a:r>
            <a:r>
              <a:rPr lang="it-IT" sz="2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Allow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".</a:t>
            </a: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2. </a:t>
            </a:r>
            <a:r>
              <a:rPr lang="it-IT" sz="2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Cicla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sistematicamente attraverso un elenco di metodi comuni ("GET", POST, PUT, DELETE).</a:t>
            </a: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3. Analizza il codice di stato HTTP della risposta. Una risposta "405 (Method Not </a:t>
            </a:r>
            <a:r>
              <a:rPr lang="it-IT" sz="2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Allowed</a:t>
            </a:r>
            <a:r>
              <a:rPr lang="it-IT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)" indica che il metodo è disabilitato; altri codici (come 200 OK) suggeriscono che è gestito.</a:t>
            </a: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6205" marR="5080" lvl="8">
              <a:lnSpc>
                <a:spcPts val="3350"/>
              </a:lnSpc>
              <a:spcBef>
                <a:spcPts val="1670"/>
              </a:spcBef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9105" marR="5080" lvl="2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9105" marR="5080" lvl="6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9105" marR="5080" lvl="1" indent="-342900">
              <a:lnSpc>
                <a:spcPts val="3350"/>
              </a:lnSpc>
              <a:spcBef>
                <a:spcPts val="1670"/>
              </a:spcBef>
              <a:buFont typeface="Arial" panose="020B0604020202020204" pitchFamily="34" charset="0"/>
              <a:buChar char="•"/>
              <a:tabLst>
                <a:tab pos="387985" algn="l"/>
              </a:tabLst>
            </a:pPr>
            <a:endParaRPr lang="it-IT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46272" y="1986138"/>
            <a:ext cx="532384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105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Auditing</a:t>
            </a:r>
            <a:r>
              <a:rPr sz="3600" spc="-4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</a:t>
            </a:r>
            <a:r>
              <a:rPr sz="3600" spc="-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Web</a:t>
            </a:r>
            <a:r>
              <a:rPr sz="3600" spc="-125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3600" spc="-1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Resource</a:t>
            </a:r>
            <a:endParaRPr sz="3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5301" y="5346336"/>
            <a:ext cx="7539497" cy="2438488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575"/>
              </a:spcBef>
            </a:pPr>
            <a:r>
              <a:rPr lang="it-IT" sz="3600" dirty="0">
                <a:latin typeface="Cambria" panose="02040503050406030204" pitchFamily="18" charset="0"/>
                <a:ea typeface="Cambria" panose="02040503050406030204" pitchFamily="18" charset="0"/>
              </a:rPr>
              <a:t>Approfondimento sulla Sicurezza</a:t>
            </a:r>
          </a:p>
          <a:p>
            <a:pPr marL="17780">
              <a:lnSpc>
                <a:spcPct val="100000"/>
              </a:lnSpc>
              <a:spcBef>
                <a:spcPts val="1575"/>
              </a:spcBef>
            </a:pP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L'audit conferma che metodi potenzialmente pericolosi come "PUT" e "DELETE" sono correttamente disabilitati su questa risorsa, prevenendo modifiche o cancellazioni non autorizzate dei contenuti.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63950" y="9422341"/>
            <a:ext cx="1346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359720" y="9422341"/>
            <a:ext cx="975994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5" dirty="0">
                <a:latin typeface="Cambria"/>
                <a:cs typeface="Cambria"/>
              </a:rPr>
              <a:t>NotebookLM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E5928F8-EA6D-C3D4-03CE-9EAA42BB44C5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A1EB99F-9FFC-AEAE-3B9A-F4A13D3C8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272" y="2875800"/>
            <a:ext cx="786384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8743950" y="3708400"/>
            <a:ext cx="0" cy="5118100"/>
          </a:xfrm>
          <a:custGeom>
            <a:avLst/>
            <a:gdLst/>
            <a:ahLst/>
            <a:cxnLst/>
            <a:rect l="l" t="t" r="r" b="b"/>
            <a:pathLst>
              <a:path h="5118100">
                <a:moveTo>
                  <a:pt x="0" y="511810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900" y="3251200"/>
            <a:ext cx="15532100" cy="0"/>
          </a:xfrm>
          <a:custGeom>
            <a:avLst/>
            <a:gdLst/>
            <a:ahLst/>
            <a:cxnLst/>
            <a:rect l="l" t="t" r="r" b="b"/>
            <a:pathLst>
              <a:path w="15532100">
                <a:moveTo>
                  <a:pt x="0" y="0"/>
                </a:moveTo>
                <a:lnTo>
                  <a:pt x="15532100" y="0"/>
                </a:lnTo>
              </a:path>
            </a:pathLst>
          </a:custGeom>
          <a:ln w="25400">
            <a:solidFill>
              <a:srgbClr val="0F1F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088" y="3671828"/>
            <a:ext cx="381000" cy="381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9088" y="4907902"/>
            <a:ext cx="381000" cy="393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788" y="6934200"/>
            <a:ext cx="368300" cy="3937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-191556" y="606064"/>
            <a:ext cx="18191830" cy="942993"/>
          </a:xfrm>
          <a:prstGeom prst="rect">
            <a:avLst/>
          </a:prstGeom>
        </p:spPr>
        <p:txBody>
          <a:bodyPr vert="horz" wrap="square" lIns="0" tIns="270933" rIns="0" bIns="0" rtlCol="0">
            <a:spAutoFit/>
          </a:bodyPr>
          <a:lstStyle/>
          <a:p>
            <a:pPr marL="221615" algn="ctr">
              <a:lnSpc>
                <a:spcPct val="100000"/>
              </a:lnSpc>
              <a:spcBef>
                <a:spcPts val="125"/>
              </a:spcBef>
            </a:pPr>
            <a:r>
              <a:rPr lang="it-IT" dirty="0"/>
              <a:t>Un'Infrastruttura Resiliente, Validata e Ottimizzata per le Prestazioni</a:t>
            </a:r>
            <a:endParaRPr spc="130" dirty="0">
              <a:solidFill>
                <a:srgbClr val="052648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2200" y="1854024"/>
            <a:ext cx="15417800" cy="976549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376680" marR="5080" indent="-1364615" algn="ctr">
              <a:lnSpc>
                <a:spcPts val="3300"/>
              </a:lnSpc>
              <a:spcBef>
                <a:spcPts val="515"/>
              </a:spcBef>
            </a:pP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L'investimento di € 226.000 offre una soluzione completa "Chiavi in Mano" che mette </a:t>
            </a:r>
          </a:p>
          <a:p>
            <a:pPr marL="1376680" marR="5080" indent="-1364615" algn="ctr">
              <a:lnSpc>
                <a:spcPts val="3300"/>
              </a:lnSpc>
              <a:spcBef>
                <a:spcPts val="515"/>
              </a:spcBef>
            </a:pP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in sicurezza le operazioni digitali di Theta Company e potenzia la sua forza lavoro.</a:t>
            </a:r>
            <a:endParaRPr sz="305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0496" y="3612320"/>
            <a:ext cx="6650990" cy="5393142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</a:rPr>
              <a:t>Esigenze Funzionali Soddisfatte: 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Supporta 120 utenti su 6 piani con VLAN segmentate ad alte prestazioni.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</a:rPr>
              <a:t>Sicurezza Resiliente Implementata: 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Una strategia multilivello di "Difesa in Profondità" protegge le risorse critiche come il NAS aziendale e isola i servizi pubblici in una DMZ.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Competenza Verificata: </a:t>
            </a:r>
          </a:p>
          <a:p>
            <a:pPr marL="20955" marR="816610" indent="4445">
              <a:lnSpc>
                <a:spcPts val="3100"/>
              </a:lnSpc>
              <a:spcBef>
                <a:spcPts val="254"/>
              </a:spcBef>
            </a:pPr>
            <a:r>
              <a:rPr lang="it-IT" sz="2400" dirty="0">
                <a:latin typeface="Cambria" panose="02040503050406030204" pitchFamily="18" charset="0"/>
                <a:ea typeface="Cambria" panose="02040503050406030204" pitchFamily="18" charset="0"/>
              </a:rPr>
              <a:t>L'architettura è stata rigorosamente testata e validata utilizzando strumenti proprietari, dimostrando un livello di cura e abilità tecnica oltre l'implementazione standard</a:t>
            </a: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09162" y="9404702"/>
            <a:ext cx="1221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420" dirty="0">
                <a:latin typeface="Times New Roman"/>
                <a:cs typeface="Times New Roman"/>
              </a:rPr>
              <a:t> </a:t>
            </a:r>
            <a:r>
              <a:rPr sz="1600" spc="-160" dirty="0">
                <a:latin typeface="Times New Roman"/>
                <a:cs typeface="Times New Roman"/>
              </a:rPr>
              <a:t>NotebookLtVi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DFA85B9-A524-984F-1B29-6EE03335B40C}"/>
              </a:ext>
            </a:extLst>
          </p:cNvPr>
          <p:cNvSpPr/>
          <p:nvPr/>
        </p:nvSpPr>
        <p:spPr>
          <a:xfrm>
            <a:off x="15499080" y="9308068"/>
            <a:ext cx="1976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BrainOnAStick</a:t>
            </a:r>
            <a:r>
              <a:rPr lang="it-IT" dirty="0"/>
              <a:t> 🧠</a:t>
            </a:r>
          </a:p>
        </p:txBody>
      </p:sp>
      <p:pic>
        <p:nvPicPr>
          <p:cNvPr id="16" name="Immagine 15" descr="Immagine che contiene diagramma, testo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A8EB4E4F-8237-DE9A-D5F0-1B5E19B78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057" y="3833102"/>
            <a:ext cx="8013175" cy="49515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B54BB2-B34E-4354-9E84-EA151E2E08A9}">
  <we:reference id="wa200005566" version="3.0.0.3" store="it-IT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1745</Words>
  <Application>Microsoft Office PowerPoint</Application>
  <PresentationFormat>Personalizzato</PresentationFormat>
  <Paragraphs>192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Arial</vt:lpstr>
      <vt:lpstr>Arial MT</vt:lpstr>
      <vt:lpstr>Calibri</vt:lpstr>
      <vt:lpstr>Cambria</vt:lpstr>
      <vt:lpstr>Consolas</vt:lpstr>
      <vt:lpstr>Times New Roman</vt:lpstr>
      <vt:lpstr>Office Theme</vt:lpstr>
      <vt:lpstr>Presentazione standard di PowerPoint</vt:lpstr>
      <vt:lpstr>L'investimento di € 226.000 offre un'infrastruttura "Defense in Depth" chiavi in mano</vt:lpstr>
      <vt:lpstr>Our Architectural Blueprint: A Resilient, Hierarchical Design</vt:lpstr>
      <vt:lpstr>Investimento in un Core di Rete e Sicurezza ad Alte Prestazioni (C31,OOO)</vt:lpstr>
      <vt:lpstr>Un parco dispositivi razionalizzato per una forza lavoro moderna (€172.500)  Un approccio "taglia unica" è inefficiente. Abbiamo segmentato le 120 workstation in base alle reali esigenze dei dipartimenti per massimizzare il valore e la produttività.</vt:lpstr>
      <vt:lpstr>Più che una semplice installazione: Il valore di un'ingegneria di alto livello (€14.000)</vt:lpstr>
      <vt:lpstr>Uno Sguardo alla Policy del Firewall  Il firewall opera secondo il Principio del Privilegio Minimo. Andiamo oltre un semplice 'consenti/nega' verso una policy stateful che isola i ruoli e contiene le minacce.</vt:lpstr>
      <vt:lpstr>Oltre le soluzioni standard: Verificare la sicurezza con un toolkit personalizzato</vt:lpstr>
      <vt:lpstr>Approfondimento Strumento 1: Lo Scanner di Porte Personalizzato</vt:lpstr>
      <vt:lpstr>Lo Sniffer di Pacchetti Grezzi</vt:lpstr>
      <vt:lpstr>L'Auditor dei Verbi HTTP</vt:lpstr>
      <vt:lpstr>Un'Infrastruttura Resiliente, Validata e Ottimizzata per le Prestazioni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Francesco Sardi</cp:lastModifiedBy>
  <cp:revision>2</cp:revision>
  <dcterms:created xsi:type="dcterms:W3CDTF">2025-12-18T13:24:44Z</dcterms:created>
  <dcterms:modified xsi:type="dcterms:W3CDTF">2025-12-19T08:44:25Z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2025-12-18T00:00:00Z</vt:filetime>
  </property>
  <property fmtid="{D5CDD505-2E9C-101B-9397-08002B2CF9AE}" pid="3" name="LastSaved">
    <vt:filetime>2025-12-18T00:00:00Z</vt:filetime>
  </property>
</Properties>
</file>